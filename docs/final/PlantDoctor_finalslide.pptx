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4" r:id="rId5"/>
    <p:sldId id="259" r:id="rId6"/>
    <p:sldId id="275" r:id="rId7"/>
    <p:sldId id="278" r:id="rId8"/>
    <p:sldId id="277" r:id="rId9"/>
    <p:sldId id="276" r:id="rId10"/>
    <p:sldId id="263" r:id="rId11"/>
    <p:sldId id="264" r:id="rId12"/>
    <p:sldId id="265" r:id="rId13"/>
    <p:sldId id="26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77890AF6-92C8-79C1-0C6D-A3E2A5F94036}">
          <p14:sldIdLst>
            <p14:sldId id="256"/>
            <p14:sldId id="257"/>
            <p14:sldId id="258"/>
            <p14:sldId id="274"/>
            <p14:sldId id="259"/>
            <p14:sldId id="275"/>
            <p14:sldId id="278"/>
            <p14:sldId id="277"/>
            <p14:sldId id="276"/>
            <p14:sldId id="263"/>
            <p14:sldId id="264"/>
            <p14:sldId id="265"/>
          </p14:sldIdLst>
        </p14:section>
        <p14:section name="付録（質疑用）" id="{0818F6CB-5385-A99C-B8BF-71ACEB6D7368}">
          <p14:sldIdLst>
            <p14:sldId id="260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気温</c:v>
                </c:pt>
              </c:strCache>
            </c:strRef>
          </c:tx>
          <c:spPr>
            <a:ln w="25400" cap="flat">
              <a:solidFill>
                <a:srgbClr val="2F6DB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Sheet1!$A$2:$A$68</c:f>
              <c:strCache>
                <c:ptCount val="67"/>
                <c:pt idx="0">
                  <c:v>9/24 13:00</c:v>
                </c:pt>
                <c:pt idx="1">
                  <c:v>9/24 13:30</c:v>
                </c:pt>
                <c:pt idx="2">
                  <c:v>9/24 14:00</c:v>
                </c:pt>
                <c:pt idx="3">
                  <c:v>9/24 14:30</c:v>
                </c:pt>
                <c:pt idx="4">
                  <c:v>9/24 15:00</c:v>
                </c:pt>
                <c:pt idx="5">
                  <c:v>9/24 15:30</c:v>
                </c:pt>
                <c:pt idx="6">
                  <c:v>9/24 16:00</c:v>
                </c:pt>
                <c:pt idx="7">
                  <c:v>9/24 16:30</c:v>
                </c:pt>
                <c:pt idx="8">
                  <c:v>9/24 17:00</c:v>
                </c:pt>
                <c:pt idx="9">
                  <c:v>9/24 17:30</c:v>
                </c:pt>
                <c:pt idx="10">
                  <c:v>9/24 18:00</c:v>
                </c:pt>
                <c:pt idx="11">
                  <c:v>9/24 18:30</c:v>
                </c:pt>
                <c:pt idx="12">
                  <c:v>9/24 19:00</c:v>
                </c:pt>
                <c:pt idx="13">
                  <c:v>9/24 19:30</c:v>
                </c:pt>
                <c:pt idx="14">
                  <c:v>9/24 20:00</c:v>
                </c:pt>
                <c:pt idx="15">
                  <c:v>9/24 20:30</c:v>
                </c:pt>
                <c:pt idx="16">
                  <c:v>9/24 21:00</c:v>
                </c:pt>
                <c:pt idx="17">
                  <c:v>9/24 21:30</c:v>
                </c:pt>
                <c:pt idx="18">
                  <c:v>9/24 22:00</c:v>
                </c:pt>
                <c:pt idx="19">
                  <c:v>9/24 22:30</c:v>
                </c:pt>
                <c:pt idx="20">
                  <c:v>9/24 23:00</c:v>
                </c:pt>
                <c:pt idx="21">
                  <c:v>9/24 23:30</c:v>
                </c:pt>
                <c:pt idx="22">
                  <c:v>9/25 0:00</c:v>
                </c:pt>
                <c:pt idx="23">
                  <c:v>9/25 0:30</c:v>
                </c:pt>
                <c:pt idx="24">
                  <c:v>9/25 1:00</c:v>
                </c:pt>
                <c:pt idx="25">
                  <c:v>9/25 1:30</c:v>
                </c:pt>
                <c:pt idx="26">
                  <c:v>9/25 2:00</c:v>
                </c:pt>
                <c:pt idx="27">
                  <c:v>9/25 2:30</c:v>
                </c:pt>
                <c:pt idx="28">
                  <c:v>9/25 3:00</c:v>
                </c:pt>
                <c:pt idx="29">
                  <c:v>9/25 3:30</c:v>
                </c:pt>
                <c:pt idx="30">
                  <c:v>9/25 4:00</c:v>
                </c:pt>
                <c:pt idx="31">
                  <c:v>9/25 4:30</c:v>
                </c:pt>
                <c:pt idx="32">
                  <c:v>9/25 5:00</c:v>
                </c:pt>
                <c:pt idx="33">
                  <c:v>9/25 5:30</c:v>
                </c:pt>
                <c:pt idx="34">
                  <c:v>9/25 6:00</c:v>
                </c:pt>
                <c:pt idx="35">
                  <c:v>9/25 6:30</c:v>
                </c:pt>
                <c:pt idx="36">
                  <c:v>9/25 7:00</c:v>
                </c:pt>
                <c:pt idx="37">
                  <c:v>9/25 7:30</c:v>
                </c:pt>
                <c:pt idx="38">
                  <c:v>9/25 8:00</c:v>
                </c:pt>
                <c:pt idx="39">
                  <c:v>9/25 8:30</c:v>
                </c:pt>
                <c:pt idx="40">
                  <c:v>9/25 9:00</c:v>
                </c:pt>
                <c:pt idx="41">
                  <c:v>9/25 9:30</c:v>
                </c:pt>
                <c:pt idx="42">
                  <c:v>9/25 10:00</c:v>
                </c:pt>
                <c:pt idx="43">
                  <c:v>9/25 10:30</c:v>
                </c:pt>
                <c:pt idx="44">
                  <c:v>9/25 11:00</c:v>
                </c:pt>
                <c:pt idx="45">
                  <c:v>9/25 11:30</c:v>
                </c:pt>
                <c:pt idx="46">
                  <c:v>9/25 12:00</c:v>
                </c:pt>
                <c:pt idx="47">
                  <c:v>9/25 12:30</c:v>
                </c:pt>
                <c:pt idx="48">
                  <c:v>9/25 13:00</c:v>
                </c:pt>
                <c:pt idx="49">
                  <c:v>9/25 13:30</c:v>
                </c:pt>
                <c:pt idx="50">
                  <c:v>9/25 14:00</c:v>
                </c:pt>
                <c:pt idx="51">
                  <c:v>9/25 14:30</c:v>
                </c:pt>
                <c:pt idx="52">
                  <c:v>9/25 15:00</c:v>
                </c:pt>
                <c:pt idx="53">
                  <c:v>9/25 15:30</c:v>
                </c:pt>
                <c:pt idx="54">
                  <c:v>9/25 16:00</c:v>
                </c:pt>
                <c:pt idx="55">
                  <c:v>9/25 16:30</c:v>
                </c:pt>
                <c:pt idx="56">
                  <c:v>9/25 17:00</c:v>
                </c:pt>
                <c:pt idx="57">
                  <c:v>9/25 17:30</c:v>
                </c:pt>
                <c:pt idx="58">
                  <c:v>9/25 18:00</c:v>
                </c:pt>
                <c:pt idx="59">
                  <c:v>9/25 18:30</c:v>
                </c:pt>
                <c:pt idx="60">
                  <c:v>9/25 19:00</c:v>
                </c:pt>
                <c:pt idx="61">
                  <c:v>9/25 19:30</c:v>
                </c:pt>
                <c:pt idx="62">
                  <c:v>9/25 20:00</c:v>
                </c:pt>
                <c:pt idx="63">
                  <c:v>9/25 20:30</c:v>
                </c:pt>
                <c:pt idx="64">
                  <c:v>9/25 21:00</c:v>
                </c:pt>
                <c:pt idx="65">
                  <c:v>9/25 21:30</c:v>
                </c:pt>
                <c:pt idx="66">
                  <c:v>9/25 22:00</c:v>
                </c:pt>
              </c:strCache>
            </c:strRef>
          </c:cat>
          <c:val>
            <c:numRef>
              <c:f>Sheet1!$B$2:$B$68</c:f>
              <c:numCache>
                <c:formatCode>General</c:formatCode>
                <c:ptCount val="67"/>
                <c:pt idx="0">
                  <c:v>29.52</c:v>
                </c:pt>
                <c:pt idx="1">
                  <c:v>29.83</c:v>
                </c:pt>
                <c:pt idx="2">
                  <c:v>30.03</c:v>
                </c:pt>
                <c:pt idx="3">
                  <c:v>30.22</c:v>
                </c:pt>
                <c:pt idx="4">
                  <c:v>30.18</c:v>
                </c:pt>
                <c:pt idx="5">
                  <c:v>30.36</c:v>
                </c:pt>
                <c:pt idx="6">
                  <c:v>30.19</c:v>
                </c:pt>
                <c:pt idx="7">
                  <c:v>29.04</c:v>
                </c:pt>
                <c:pt idx="8">
                  <c:v>28.45</c:v>
                </c:pt>
                <c:pt idx="9">
                  <c:v>28.09</c:v>
                </c:pt>
                <c:pt idx="10">
                  <c:v>27.65</c:v>
                </c:pt>
                <c:pt idx="11">
                  <c:v>27.45</c:v>
                </c:pt>
                <c:pt idx="12">
                  <c:v>27.3</c:v>
                </c:pt>
                <c:pt idx="13">
                  <c:v>27.09</c:v>
                </c:pt>
                <c:pt idx="14">
                  <c:v>26.97</c:v>
                </c:pt>
                <c:pt idx="15">
                  <c:v>26.92</c:v>
                </c:pt>
                <c:pt idx="16">
                  <c:v>26.68</c:v>
                </c:pt>
                <c:pt idx="17">
                  <c:v>26.51</c:v>
                </c:pt>
                <c:pt idx="18">
                  <c:v>26.5</c:v>
                </c:pt>
                <c:pt idx="19">
                  <c:v>26.35</c:v>
                </c:pt>
                <c:pt idx="20">
                  <c:v>26.21</c:v>
                </c:pt>
                <c:pt idx="21">
                  <c:v>26.05</c:v>
                </c:pt>
                <c:pt idx="22">
                  <c:v>25.97</c:v>
                </c:pt>
                <c:pt idx="23">
                  <c:v>25.92</c:v>
                </c:pt>
                <c:pt idx="24">
                  <c:v>25.79</c:v>
                </c:pt>
                <c:pt idx="25">
                  <c:v>25.7</c:v>
                </c:pt>
                <c:pt idx="26">
                  <c:v>25.67</c:v>
                </c:pt>
                <c:pt idx="27">
                  <c:v>25.6</c:v>
                </c:pt>
                <c:pt idx="28">
                  <c:v>25.55</c:v>
                </c:pt>
                <c:pt idx="29">
                  <c:v>25.44</c:v>
                </c:pt>
                <c:pt idx="30">
                  <c:v>25.42</c:v>
                </c:pt>
                <c:pt idx="31">
                  <c:v>25.43</c:v>
                </c:pt>
                <c:pt idx="32">
                  <c:v>25.44</c:v>
                </c:pt>
                <c:pt idx="33">
                  <c:v>25.52</c:v>
                </c:pt>
                <c:pt idx="34">
                  <c:v>25.57</c:v>
                </c:pt>
                <c:pt idx="35">
                  <c:v>25.92</c:v>
                </c:pt>
                <c:pt idx="36">
                  <c:v>26.34</c:v>
                </c:pt>
                <c:pt idx="37">
                  <c:v>26.54</c:v>
                </c:pt>
                <c:pt idx="38">
                  <c:v>26.85</c:v>
                </c:pt>
                <c:pt idx="39">
                  <c:v>27.18</c:v>
                </c:pt>
                <c:pt idx="40">
                  <c:v>27.33</c:v>
                </c:pt>
                <c:pt idx="41">
                  <c:v>27.62</c:v>
                </c:pt>
                <c:pt idx="42">
                  <c:v>28.03</c:v>
                </c:pt>
                <c:pt idx="43">
                  <c:v>28.38</c:v>
                </c:pt>
                <c:pt idx="44">
                  <c:v>28.47</c:v>
                </c:pt>
                <c:pt idx="45">
                  <c:v>28.72</c:v>
                </c:pt>
                <c:pt idx="46">
                  <c:v>28.96</c:v>
                </c:pt>
                <c:pt idx="47">
                  <c:v>29.26</c:v>
                </c:pt>
                <c:pt idx="48">
                  <c:v>29.29</c:v>
                </c:pt>
                <c:pt idx="49">
                  <c:v>29.42</c:v>
                </c:pt>
                <c:pt idx="50">
                  <c:v>29.59</c:v>
                </c:pt>
                <c:pt idx="51">
                  <c:v>29.64</c:v>
                </c:pt>
                <c:pt idx="52">
                  <c:v>29.51</c:v>
                </c:pt>
                <c:pt idx="53">
                  <c:v>29.25</c:v>
                </c:pt>
                <c:pt idx="54">
                  <c:v>29.17</c:v>
                </c:pt>
                <c:pt idx="55">
                  <c:v>28.95</c:v>
                </c:pt>
                <c:pt idx="56">
                  <c:v>28.6</c:v>
                </c:pt>
                <c:pt idx="57">
                  <c:v>28.25</c:v>
                </c:pt>
                <c:pt idx="58">
                  <c:v>28.22</c:v>
                </c:pt>
                <c:pt idx="59">
                  <c:v>28.06</c:v>
                </c:pt>
                <c:pt idx="60">
                  <c:v>27.81</c:v>
                </c:pt>
                <c:pt idx="61">
                  <c:v>27.62</c:v>
                </c:pt>
                <c:pt idx="62">
                  <c:v>27.58</c:v>
                </c:pt>
                <c:pt idx="63">
                  <c:v>27.56</c:v>
                </c:pt>
                <c:pt idx="64">
                  <c:v>27.42</c:v>
                </c:pt>
                <c:pt idx="65">
                  <c:v>27.33</c:v>
                </c:pt>
                <c:pt idx="66">
                  <c:v>27.26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1F-480F-A737-7DB776D96E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葉温</c:v>
                </c:pt>
              </c:strCache>
            </c:strRef>
          </c:tx>
          <c:spPr>
            <a:ln w="25400" cap="flat">
              <a:solidFill>
                <a:srgbClr val="C8601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Sheet1!$A$2:$A$68</c:f>
              <c:strCache>
                <c:ptCount val="67"/>
                <c:pt idx="0">
                  <c:v>9/24 13:00</c:v>
                </c:pt>
                <c:pt idx="1">
                  <c:v>9/24 13:30</c:v>
                </c:pt>
                <c:pt idx="2">
                  <c:v>9/24 14:00</c:v>
                </c:pt>
                <c:pt idx="3">
                  <c:v>9/24 14:30</c:v>
                </c:pt>
                <c:pt idx="4">
                  <c:v>9/24 15:00</c:v>
                </c:pt>
                <c:pt idx="5">
                  <c:v>9/24 15:30</c:v>
                </c:pt>
                <c:pt idx="6">
                  <c:v>9/24 16:00</c:v>
                </c:pt>
                <c:pt idx="7">
                  <c:v>9/24 16:30</c:v>
                </c:pt>
                <c:pt idx="8">
                  <c:v>9/24 17:00</c:v>
                </c:pt>
                <c:pt idx="9">
                  <c:v>9/24 17:30</c:v>
                </c:pt>
                <c:pt idx="10">
                  <c:v>9/24 18:00</c:v>
                </c:pt>
                <c:pt idx="11">
                  <c:v>9/24 18:30</c:v>
                </c:pt>
                <c:pt idx="12">
                  <c:v>9/24 19:00</c:v>
                </c:pt>
                <c:pt idx="13">
                  <c:v>9/24 19:30</c:v>
                </c:pt>
                <c:pt idx="14">
                  <c:v>9/24 20:00</c:v>
                </c:pt>
                <c:pt idx="15">
                  <c:v>9/24 20:30</c:v>
                </c:pt>
                <c:pt idx="16">
                  <c:v>9/24 21:00</c:v>
                </c:pt>
                <c:pt idx="17">
                  <c:v>9/24 21:30</c:v>
                </c:pt>
                <c:pt idx="18">
                  <c:v>9/24 22:00</c:v>
                </c:pt>
                <c:pt idx="19">
                  <c:v>9/24 22:30</c:v>
                </c:pt>
                <c:pt idx="20">
                  <c:v>9/24 23:00</c:v>
                </c:pt>
                <c:pt idx="21">
                  <c:v>9/24 23:30</c:v>
                </c:pt>
                <c:pt idx="22">
                  <c:v>9/25 0:00</c:v>
                </c:pt>
                <c:pt idx="23">
                  <c:v>9/25 0:30</c:v>
                </c:pt>
                <c:pt idx="24">
                  <c:v>9/25 1:00</c:v>
                </c:pt>
                <c:pt idx="25">
                  <c:v>9/25 1:30</c:v>
                </c:pt>
                <c:pt idx="26">
                  <c:v>9/25 2:00</c:v>
                </c:pt>
                <c:pt idx="27">
                  <c:v>9/25 2:30</c:v>
                </c:pt>
                <c:pt idx="28">
                  <c:v>9/25 3:00</c:v>
                </c:pt>
                <c:pt idx="29">
                  <c:v>9/25 3:30</c:v>
                </c:pt>
                <c:pt idx="30">
                  <c:v>9/25 4:00</c:v>
                </c:pt>
                <c:pt idx="31">
                  <c:v>9/25 4:30</c:v>
                </c:pt>
                <c:pt idx="32">
                  <c:v>9/25 5:00</c:v>
                </c:pt>
                <c:pt idx="33">
                  <c:v>9/25 5:30</c:v>
                </c:pt>
                <c:pt idx="34">
                  <c:v>9/25 6:00</c:v>
                </c:pt>
                <c:pt idx="35">
                  <c:v>9/25 6:30</c:v>
                </c:pt>
                <c:pt idx="36">
                  <c:v>9/25 7:00</c:v>
                </c:pt>
                <c:pt idx="37">
                  <c:v>9/25 7:30</c:v>
                </c:pt>
                <c:pt idx="38">
                  <c:v>9/25 8:00</c:v>
                </c:pt>
                <c:pt idx="39">
                  <c:v>9/25 8:30</c:v>
                </c:pt>
                <c:pt idx="40">
                  <c:v>9/25 9:00</c:v>
                </c:pt>
                <c:pt idx="41">
                  <c:v>9/25 9:30</c:v>
                </c:pt>
                <c:pt idx="42">
                  <c:v>9/25 10:00</c:v>
                </c:pt>
                <c:pt idx="43">
                  <c:v>9/25 10:30</c:v>
                </c:pt>
                <c:pt idx="44">
                  <c:v>9/25 11:00</c:v>
                </c:pt>
                <c:pt idx="45">
                  <c:v>9/25 11:30</c:v>
                </c:pt>
                <c:pt idx="46">
                  <c:v>9/25 12:00</c:v>
                </c:pt>
                <c:pt idx="47">
                  <c:v>9/25 12:30</c:v>
                </c:pt>
                <c:pt idx="48">
                  <c:v>9/25 13:00</c:v>
                </c:pt>
                <c:pt idx="49">
                  <c:v>9/25 13:30</c:v>
                </c:pt>
                <c:pt idx="50">
                  <c:v>9/25 14:00</c:v>
                </c:pt>
                <c:pt idx="51">
                  <c:v>9/25 14:30</c:v>
                </c:pt>
                <c:pt idx="52">
                  <c:v>9/25 15:00</c:v>
                </c:pt>
                <c:pt idx="53">
                  <c:v>9/25 15:30</c:v>
                </c:pt>
                <c:pt idx="54">
                  <c:v>9/25 16:00</c:v>
                </c:pt>
                <c:pt idx="55">
                  <c:v>9/25 16:30</c:v>
                </c:pt>
                <c:pt idx="56">
                  <c:v>9/25 17:00</c:v>
                </c:pt>
                <c:pt idx="57">
                  <c:v>9/25 17:30</c:v>
                </c:pt>
                <c:pt idx="58">
                  <c:v>9/25 18:00</c:v>
                </c:pt>
                <c:pt idx="59">
                  <c:v>9/25 18:30</c:v>
                </c:pt>
                <c:pt idx="60">
                  <c:v>9/25 19:00</c:v>
                </c:pt>
                <c:pt idx="61">
                  <c:v>9/25 19:30</c:v>
                </c:pt>
                <c:pt idx="62">
                  <c:v>9/25 20:00</c:v>
                </c:pt>
                <c:pt idx="63">
                  <c:v>9/25 20:30</c:v>
                </c:pt>
                <c:pt idx="64">
                  <c:v>9/25 21:00</c:v>
                </c:pt>
                <c:pt idx="65">
                  <c:v>9/25 21:30</c:v>
                </c:pt>
                <c:pt idx="66">
                  <c:v>9/25 22:00</c:v>
                </c:pt>
              </c:strCache>
            </c:strRef>
          </c:cat>
          <c:val>
            <c:numRef>
              <c:f>Sheet1!$C$2:$C$68</c:f>
              <c:numCache>
                <c:formatCode>General</c:formatCode>
                <c:ptCount val="67"/>
                <c:pt idx="0">
                  <c:v>28.9</c:v>
                </c:pt>
                <c:pt idx="1">
                  <c:v>29.01</c:v>
                </c:pt>
                <c:pt idx="2">
                  <c:v>29.23</c:v>
                </c:pt>
                <c:pt idx="3">
                  <c:v>29.41</c:v>
                </c:pt>
                <c:pt idx="4">
                  <c:v>29.38</c:v>
                </c:pt>
                <c:pt idx="5">
                  <c:v>29.55</c:v>
                </c:pt>
                <c:pt idx="6">
                  <c:v>29.42</c:v>
                </c:pt>
                <c:pt idx="7">
                  <c:v>28.31</c:v>
                </c:pt>
                <c:pt idx="8">
                  <c:v>27.74</c:v>
                </c:pt>
                <c:pt idx="9">
                  <c:v>27.42</c:v>
                </c:pt>
                <c:pt idx="10">
                  <c:v>26.98</c:v>
                </c:pt>
                <c:pt idx="11">
                  <c:v>26.81</c:v>
                </c:pt>
                <c:pt idx="12">
                  <c:v>26.72</c:v>
                </c:pt>
                <c:pt idx="13">
                  <c:v>26.45</c:v>
                </c:pt>
                <c:pt idx="14">
                  <c:v>26.35</c:v>
                </c:pt>
                <c:pt idx="15">
                  <c:v>26.31</c:v>
                </c:pt>
                <c:pt idx="16">
                  <c:v>26.1</c:v>
                </c:pt>
                <c:pt idx="17">
                  <c:v>25.9</c:v>
                </c:pt>
                <c:pt idx="18">
                  <c:v>26.05</c:v>
                </c:pt>
                <c:pt idx="19">
                  <c:v>25.91</c:v>
                </c:pt>
                <c:pt idx="20">
                  <c:v>25.8</c:v>
                </c:pt>
                <c:pt idx="21">
                  <c:v>25.62</c:v>
                </c:pt>
                <c:pt idx="22">
                  <c:v>25.54</c:v>
                </c:pt>
                <c:pt idx="23">
                  <c:v>25.52</c:v>
                </c:pt>
                <c:pt idx="24">
                  <c:v>25.35</c:v>
                </c:pt>
                <c:pt idx="25">
                  <c:v>25.27</c:v>
                </c:pt>
                <c:pt idx="26">
                  <c:v>25.24</c:v>
                </c:pt>
                <c:pt idx="27">
                  <c:v>25.19</c:v>
                </c:pt>
                <c:pt idx="28">
                  <c:v>25.11</c:v>
                </c:pt>
                <c:pt idx="29">
                  <c:v>25</c:v>
                </c:pt>
                <c:pt idx="30">
                  <c:v>25.01</c:v>
                </c:pt>
                <c:pt idx="31">
                  <c:v>25.03</c:v>
                </c:pt>
                <c:pt idx="32">
                  <c:v>25.03</c:v>
                </c:pt>
                <c:pt idx="33">
                  <c:v>25.09</c:v>
                </c:pt>
                <c:pt idx="34">
                  <c:v>25.15</c:v>
                </c:pt>
                <c:pt idx="35">
                  <c:v>25.49</c:v>
                </c:pt>
                <c:pt idx="36">
                  <c:v>25.77</c:v>
                </c:pt>
                <c:pt idx="37">
                  <c:v>25.96</c:v>
                </c:pt>
                <c:pt idx="38">
                  <c:v>26.25</c:v>
                </c:pt>
                <c:pt idx="39">
                  <c:v>26.57</c:v>
                </c:pt>
                <c:pt idx="40">
                  <c:v>26.67</c:v>
                </c:pt>
                <c:pt idx="41">
                  <c:v>26.98</c:v>
                </c:pt>
                <c:pt idx="42">
                  <c:v>27.4</c:v>
                </c:pt>
                <c:pt idx="43">
                  <c:v>27.69</c:v>
                </c:pt>
                <c:pt idx="44">
                  <c:v>27.77</c:v>
                </c:pt>
                <c:pt idx="45">
                  <c:v>28</c:v>
                </c:pt>
                <c:pt idx="46">
                  <c:v>28.25</c:v>
                </c:pt>
                <c:pt idx="47">
                  <c:v>28.49</c:v>
                </c:pt>
                <c:pt idx="48">
                  <c:v>28.54</c:v>
                </c:pt>
                <c:pt idx="49">
                  <c:v>28.65</c:v>
                </c:pt>
                <c:pt idx="50">
                  <c:v>28.82</c:v>
                </c:pt>
                <c:pt idx="51">
                  <c:v>28.83</c:v>
                </c:pt>
                <c:pt idx="52">
                  <c:v>28.72</c:v>
                </c:pt>
                <c:pt idx="53">
                  <c:v>28.44</c:v>
                </c:pt>
                <c:pt idx="54">
                  <c:v>28.43</c:v>
                </c:pt>
                <c:pt idx="55">
                  <c:v>28.21</c:v>
                </c:pt>
                <c:pt idx="56">
                  <c:v>27.89</c:v>
                </c:pt>
                <c:pt idx="57">
                  <c:v>27.56</c:v>
                </c:pt>
                <c:pt idx="58">
                  <c:v>27.52</c:v>
                </c:pt>
                <c:pt idx="59">
                  <c:v>27.36</c:v>
                </c:pt>
                <c:pt idx="60">
                  <c:v>27.14</c:v>
                </c:pt>
                <c:pt idx="61">
                  <c:v>26.96</c:v>
                </c:pt>
                <c:pt idx="62">
                  <c:v>26.95</c:v>
                </c:pt>
                <c:pt idx="63">
                  <c:v>26.91</c:v>
                </c:pt>
                <c:pt idx="64">
                  <c:v>26.77</c:v>
                </c:pt>
                <c:pt idx="65">
                  <c:v>26.72</c:v>
                </c:pt>
                <c:pt idx="66">
                  <c:v>26.64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1F-480F-A737-7DB776D96E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BIZ UDPGothic"/>
              </a:defRPr>
            </a:pPr>
            <a:endParaRPr lang="ja-JP"/>
          </a:p>
        </c:txPr>
        <c:crossAx val="2094734552"/>
        <c:crosses val="autoZero"/>
        <c:auto val="1"/>
        <c:lblAlgn val="ctr"/>
        <c:lblOffset val="100"/>
        <c:tickLblSkip val="12"/>
        <c:noMultiLvlLbl val="1"/>
      </c:catAx>
      <c:valAx>
        <c:axId val="2094734552"/>
        <c:scaling>
          <c:orientation val="minMax"/>
          <c:max val="31"/>
          <c:min val="24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670"/>
                    </a:solidFill>
                    <a:latin typeface="BIZ UDPGothic"/>
                  </a:defRPr>
                </a:pPr>
                <a:r>
                  <a:rPr lang="ja-JP" altLang="en-US" sz="1200" b="0" i="0" u="none" strike="noStrike">
                    <a:solidFill>
                      <a:srgbClr val="5B6670"/>
                    </a:solidFill>
                    <a:latin typeface="BIZ UDPGothic"/>
                  </a:rPr>
                  <a:t>℃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BIZ UDPGothic"/>
              </a:defRPr>
            </a:pPr>
            <a:endParaRPr lang="ja-JP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400">
              <a:solidFill>
                <a:srgbClr val="1F2933"/>
              </a:solidFill>
              <a:latin typeface="BIZ UDPGothic"/>
              <a:cs typeface="BIZ UDPGothic"/>
            </a:defRPr>
          </a:pPr>
          <a:endParaRPr lang="ja-JP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3"/>
                </a:solidFill>
                <a:latin typeface="BIZ UDPGothic"/>
              </a:defRPr>
            </a:pPr>
            <a:r>
              <a:rPr lang="ja-JP" altLang="en-US" sz="1300" b="0" i="0" u="none" strike="noStrike">
                <a:solidFill>
                  <a:srgbClr val="1F2933"/>
                </a:solidFill>
                <a:latin typeface="BIZ UDPGothic"/>
              </a:rPr>
              <a:t>実機の </a:t>
            </a:r>
            <a:r>
              <a:rPr lang="en-US" sz="1300" b="0" i="0" u="none" strike="noStrike">
                <a:solidFill>
                  <a:srgbClr val="1F2933"/>
                </a:solidFill>
                <a:latin typeface="BIZ UDPGothic"/>
              </a:rPr>
              <a:t>Solist-AI </a:t>
            </a:r>
            <a:r>
              <a:rPr lang="ja-JP" altLang="en-US" sz="1300" b="0" i="0" u="none" strike="noStrike">
                <a:solidFill>
                  <a:srgbClr val="1F2933"/>
                </a:solidFill>
                <a:latin typeface="BIZ UDPGothic"/>
              </a:rPr>
              <a:t>の再構成誤差（健康な</a:t>
            </a:r>
            <a:r>
              <a:rPr lang="en-US" altLang="ja-JP" sz="1300" b="0" i="0" u="none" strike="noStrike">
                <a:solidFill>
                  <a:srgbClr val="1F2933"/>
                </a:solidFill>
                <a:latin typeface="BIZ UDPGothic"/>
              </a:rPr>
              <a:t>33</a:t>
            </a:r>
            <a:r>
              <a:rPr lang="ja-JP" altLang="en-US" sz="1300" b="0" i="0" u="none" strike="noStrike">
                <a:solidFill>
                  <a:srgbClr val="1F2933"/>
                </a:solidFill>
                <a:latin typeface="BIZ UDPGothic"/>
              </a:rPr>
              <a:t>時間）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再構成誤差</c:v>
                </c:pt>
              </c:strCache>
            </c:strRef>
          </c:tx>
          <c:spPr>
            <a:ln w="25400" cap="flat">
              <a:solidFill>
                <a:srgbClr val="334155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Sheet1!$A$2:$A$202</c:f>
              <c:strCache>
                <c:ptCount val="201"/>
                <c:pt idx="0">
                  <c:v>9/24 13:00</c:v>
                </c:pt>
                <c:pt idx="1">
                  <c:v>9/24 13:10</c:v>
                </c:pt>
                <c:pt idx="2">
                  <c:v>9/24 13:20</c:v>
                </c:pt>
                <c:pt idx="3">
                  <c:v>9/24 13:30</c:v>
                </c:pt>
                <c:pt idx="4">
                  <c:v>9/24 13:40</c:v>
                </c:pt>
                <c:pt idx="5">
                  <c:v>9/24 13:50</c:v>
                </c:pt>
                <c:pt idx="6">
                  <c:v>9/24 14:00</c:v>
                </c:pt>
                <c:pt idx="7">
                  <c:v>9/24 14:10</c:v>
                </c:pt>
                <c:pt idx="8">
                  <c:v>9/24 14:20</c:v>
                </c:pt>
                <c:pt idx="9">
                  <c:v>9/24 14:30</c:v>
                </c:pt>
                <c:pt idx="10">
                  <c:v>9/24 14:40</c:v>
                </c:pt>
                <c:pt idx="11">
                  <c:v>9/24 14:50</c:v>
                </c:pt>
                <c:pt idx="12">
                  <c:v>9/24 15:00</c:v>
                </c:pt>
                <c:pt idx="13">
                  <c:v>9/24 15:10</c:v>
                </c:pt>
                <c:pt idx="14">
                  <c:v>9/24 15:20</c:v>
                </c:pt>
                <c:pt idx="15">
                  <c:v>9/24 15:30</c:v>
                </c:pt>
                <c:pt idx="16">
                  <c:v>9/24 15:40</c:v>
                </c:pt>
                <c:pt idx="17">
                  <c:v>9/24 15:50</c:v>
                </c:pt>
                <c:pt idx="18">
                  <c:v>9/24 16:00</c:v>
                </c:pt>
                <c:pt idx="19">
                  <c:v>9/24 16:10</c:v>
                </c:pt>
                <c:pt idx="20">
                  <c:v>9/24 16:20</c:v>
                </c:pt>
                <c:pt idx="21">
                  <c:v>9/24 16:30</c:v>
                </c:pt>
                <c:pt idx="22">
                  <c:v>9/24 16:40</c:v>
                </c:pt>
                <c:pt idx="23">
                  <c:v>9/24 16:50</c:v>
                </c:pt>
                <c:pt idx="24">
                  <c:v>9/24 17:00</c:v>
                </c:pt>
                <c:pt idx="25">
                  <c:v>9/24 17:10</c:v>
                </c:pt>
                <c:pt idx="26">
                  <c:v>9/24 17:20</c:v>
                </c:pt>
                <c:pt idx="27">
                  <c:v>9/24 17:30</c:v>
                </c:pt>
                <c:pt idx="28">
                  <c:v>9/24 17:40</c:v>
                </c:pt>
                <c:pt idx="29">
                  <c:v>9/24 17:50</c:v>
                </c:pt>
                <c:pt idx="30">
                  <c:v>9/24 18:00</c:v>
                </c:pt>
                <c:pt idx="31">
                  <c:v>9/24 18:10</c:v>
                </c:pt>
                <c:pt idx="32">
                  <c:v>9/24 18:20</c:v>
                </c:pt>
                <c:pt idx="33">
                  <c:v>9/24 18:30</c:v>
                </c:pt>
                <c:pt idx="34">
                  <c:v>9/24 18:40</c:v>
                </c:pt>
                <c:pt idx="35">
                  <c:v>9/24 18:50</c:v>
                </c:pt>
                <c:pt idx="36">
                  <c:v>9/24 19:00</c:v>
                </c:pt>
                <c:pt idx="37">
                  <c:v>9/24 19:10</c:v>
                </c:pt>
                <c:pt idx="38">
                  <c:v>9/24 19:20</c:v>
                </c:pt>
                <c:pt idx="39">
                  <c:v>9/24 19:30</c:v>
                </c:pt>
                <c:pt idx="40">
                  <c:v>9/24 19:40</c:v>
                </c:pt>
                <c:pt idx="41">
                  <c:v>9/24 19:50</c:v>
                </c:pt>
                <c:pt idx="42">
                  <c:v>9/24 20:00</c:v>
                </c:pt>
                <c:pt idx="43">
                  <c:v>9/24 20:10</c:v>
                </c:pt>
                <c:pt idx="44">
                  <c:v>9/24 20:20</c:v>
                </c:pt>
                <c:pt idx="45">
                  <c:v>9/24 20:30</c:v>
                </c:pt>
                <c:pt idx="46">
                  <c:v>9/24 20:40</c:v>
                </c:pt>
                <c:pt idx="47">
                  <c:v>9/24 20:50</c:v>
                </c:pt>
                <c:pt idx="48">
                  <c:v>9/24 21:00</c:v>
                </c:pt>
                <c:pt idx="49">
                  <c:v>9/24 21:10</c:v>
                </c:pt>
                <c:pt idx="50">
                  <c:v>9/24 21:20</c:v>
                </c:pt>
                <c:pt idx="51">
                  <c:v>9/24 21:30</c:v>
                </c:pt>
                <c:pt idx="52">
                  <c:v>9/24 21:40</c:v>
                </c:pt>
                <c:pt idx="53">
                  <c:v>9/24 21:50</c:v>
                </c:pt>
                <c:pt idx="54">
                  <c:v>9/24 22:00</c:v>
                </c:pt>
                <c:pt idx="55">
                  <c:v>9/24 22:10</c:v>
                </c:pt>
                <c:pt idx="56">
                  <c:v>9/24 22:20</c:v>
                </c:pt>
                <c:pt idx="57">
                  <c:v>9/24 22:30</c:v>
                </c:pt>
                <c:pt idx="58">
                  <c:v>9/24 22:40</c:v>
                </c:pt>
                <c:pt idx="59">
                  <c:v>9/24 22:50</c:v>
                </c:pt>
                <c:pt idx="60">
                  <c:v>9/24 23:00</c:v>
                </c:pt>
                <c:pt idx="61">
                  <c:v>9/24 23:10</c:v>
                </c:pt>
                <c:pt idx="62">
                  <c:v>9/24 23:20</c:v>
                </c:pt>
                <c:pt idx="63">
                  <c:v>9/24 23:30</c:v>
                </c:pt>
                <c:pt idx="64">
                  <c:v>9/24 23:40</c:v>
                </c:pt>
                <c:pt idx="65">
                  <c:v>9/24 23:50</c:v>
                </c:pt>
                <c:pt idx="66">
                  <c:v>9/25 0:00</c:v>
                </c:pt>
                <c:pt idx="67">
                  <c:v>9/25 0:10</c:v>
                </c:pt>
                <c:pt idx="68">
                  <c:v>9/25 0:20</c:v>
                </c:pt>
                <c:pt idx="69">
                  <c:v>9/25 0:30</c:v>
                </c:pt>
                <c:pt idx="70">
                  <c:v>9/25 0:40</c:v>
                </c:pt>
                <c:pt idx="71">
                  <c:v>9/25 0:50</c:v>
                </c:pt>
                <c:pt idx="72">
                  <c:v>9/25 1:00</c:v>
                </c:pt>
                <c:pt idx="73">
                  <c:v>9/25 1:10</c:v>
                </c:pt>
                <c:pt idx="74">
                  <c:v>9/25 1:20</c:v>
                </c:pt>
                <c:pt idx="75">
                  <c:v>9/25 1:30</c:v>
                </c:pt>
                <c:pt idx="76">
                  <c:v>9/25 1:40</c:v>
                </c:pt>
                <c:pt idx="77">
                  <c:v>9/25 1:50</c:v>
                </c:pt>
                <c:pt idx="78">
                  <c:v>9/25 2:00</c:v>
                </c:pt>
                <c:pt idx="79">
                  <c:v>9/25 2:10</c:v>
                </c:pt>
                <c:pt idx="80">
                  <c:v>9/25 2:20</c:v>
                </c:pt>
                <c:pt idx="81">
                  <c:v>9/25 2:30</c:v>
                </c:pt>
                <c:pt idx="82">
                  <c:v>9/25 2:40</c:v>
                </c:pt>
                <c:pt idx="83">
                  <c:v>9/25 2:50</c:v>
                </c:pt>
                <c:pt idx="84">
                  <c:v>9/25 3:00</c:v>
                </c:pt>
                <c:pt idx="85">
                  <c:v>9/25 3:10</c:v>
                </c:pt>
                <c:pt idx="86">
                  <c:v>9/25 3:20</c:v>
                </c:pt>
                <c:pt idx="87">
                  <c:v>9/25 3:30</c:v>
                </c:pt>
                <c:pt idx="88">
                  <c:v>9/25 3:40</c:v>
                </c:pt>
                <c:pt idx="89">
                  <c:v>9/25 3:50</c:v>
                </c:pt>
                <c:pt idx="90">
                  <c:v>9/25 4:00</c:v>
                </c:pt>
                <c:pt idx="91">
                  <c:v>9/25 4:10</c:v>
                </c:pt>
                <c:pt idx="92">
                  <c:v>9/25 4:20</c:v>
                </c:pt>
                <c:pt idx="93">
                  <c:v>9/25 4:30</c:v>
                </c:pt>
                <c:pt idx="94">
                  <c:v>9/25 4:40</c:v>
                </c:pt>
                <c:pt idx="95">
                  <c:v>9/25 4:50</c:v>
                </c:pt>
                <c:pt idx="96">
                  <c:v>9/25 5:00</c:v>
                </c:pt>
                <c:pt idx="97">
                  <c:v>9/25 5:10</c:v>
                </c:pt>
                <c:pt idx="98">
                  <c:v>9/25 5:20</c:v>
                </c:pt>
                <c:pt idx="99">
                  <c:v>9/25 5:30</c:v>
                </c:pt>
                <c:pt idx="100">
                  <c:v>9/25 5:40</c:v>
                </c:pt>
                <c:pt idx="101">
                  <c:v>9/25 5:50</c:v>
                </c:pt>
                <c:pt idx="102">
                  <c:v>9/25 6:00</c:v>
                </c:pt>
                <c:pt idx="103">
                  <c:v>9/25 6:10</c:v>
                </c:pt>
                <c:pt idx="104">
                  <c:v>9/25 6:20</c:v>
                </c:pt>
                <c:pt idx="105">
                  <c:v>9/25 6:30</c:v>
                </c:pt>
                <c:pt idx="106">
                  <c:v>9/25 6:40</c:v>
                </c:pt>
                <c:pt idx="107">
                  <c:v>9/25 6:50</c:v>
                </c:pt>
                <c:pt idx="108">
                  <c:v>9/25 7:00</c:v>
                </c:pt>
                <c:pt idx="109">
                  <c:v>9/25 7:10</c:v>
                </c:pt>
                <c:pt idx="110">
                  <c:v>9/25 7:20</c:v>
                </c:pt>
                <c:pt idx="111">
                  <c:v>9/25 7:30</c:v>
                </c:pt>
                <c:pt idx="112">
                  <c:v>9/25 7:40</c:v>
                </c:pt>
                <c:pt idx="113">
                  <c:v>9/25 7:50</c:v>
                </c:pt>
                <c:pt idx="114">
                  <c:v>9/25 8:00</c:v>
                </c:pt>
                <c:pt idx="115">
                  <c:v>9/25 8:10</c:v>
                </c:pt>
                <c:pt idx="116">
                  <c:v>9/25 8:20</c:v>
                </c:pt>
                <c:pt idx="117">
                  <c:v>9/25 8:30</c:v>
                </c:pt>
                <c:pt idx="118">
                  <c:v>9/25 8:40</c:v>
                </c:pt>
                <c:pt idx="119">
                  <c:v>9/25 8:50</c:v>
                </c:pt>
                <c:pt idx="120">
                  <c:v>9/25 9:00</c:v>
                </c:pt>
                <c:pt idx="121">
                  <c:v>9/25 9:10</c:v>
                </c:pt>
                <c:pt idx="122">
                  <c:v>9/25 9:20</c:v>
                </c:pt>
                <c:pt idx="123">
                  <c:v>9/25 9:30</c:v>
                </c:pt>
                <c:pt idx="124">
                  <c:v>9/25 9:40</c:v>
                </c:pt>
                <c:pt idx="125">
                  <c:v>9/25 9:50</c:v>
                </c:pt>
                <c:pt idx="126">
                  <c:v>9/25 10:00</c:v>
                </c:pt>
                <c:pt idx="127">
                  <c:v>9/25 10:10</c:v>
                </c:pt>
                <c:pt idx="128">
                  <c:v>9/25 10:20</c:v>
                </c:pt>
                <c:pt idx="129">
                  <c:v>9/25 10:30</c:v>
                </c:pt>
                <c:pt idx="130">
                  <c:v>9/25 10:40</c:v>
                </c:pt>
                <c:pt idx="131">
                  <c:v>9/25 10:50</c:v>
                </c:pt>
                <c:pt idx="132">
                  <c:v>9/25 11:00</c:v>
                </c:pt>
                <c:pt idx="133">
                  <c:v>9/25 11:10</c:v>
                </c:pt>
                <c:pt idx="134">
                  <c:v>9/25 11:20</c:v>
                </c:pt>
                <c:pt idx="135">
                  <c:v>9/25 11:30</c:v>
                </c:pt>
                <c:pt idx="136">
                  <c:v>9/25 11:40</c:v>
                </c:pt>
                <c:pt idx="137">
                  <c:v>9/25 11:50</c:v>
                </c:pt>
                <c:pt idx="138">
                  <c:v>9/25 12:00</c:v>
                </c:pt>
                <c:pt idx="139">
                  <c:v>9/25 12:10</c:v>
                </c:pt>
                <c:pt idx="140">
                  <c:v>9/25 12:20</c:v>
                </c:pt>
                <c:pt idx="141">
                  <c:v>9/25 12:30</c:v>
                </c:pt>
                <c:pt idx="142">
                  <c:v>9/25 12:40</c:v>
                </c:pt>
                <c:pt idx="143">
                  <c:v>9/25 12:50</c:v>
                </c:pt>
                <c:pt idx="144">
                  <c:v>9/25 13:00</c:v>
                </c:pt>
                <c:pt idx="145">
                  <c:v>9/25 13:10</c:v>
                </c:pt>
                <c:pt idx="146">
                  <c:v>9/25 13:20</c:v>
                </c:pt>
                <c:pt idx="147">
                  <c:v>9/25 13:30</c:v>
                </c:pt>
                <c:pt idx="148">
                  <c:v>9/25 13:40</c:v>
                </c:pt>
                <c:pt idx="149">
                  <c:v>9/25 13:50</c:v>
                </c:pt>
                <c:pt idx="150">
                  <c:v>9/25 14:00</c:v>
                </c:pt>
                <c:pt idx="151">
                  <c:v>9/25 14:10</c:v>
                </c:pt>
                <c:pt idx="152">
                  <c:v>9/25 14:20</c:v>
                </c:pt>
                <c:pt idx="153">
                  <c:v>9/25 14:30</c:v>
                </c:pt>
                <c:pt idx="154">
                  <c:v>9/25 14:40</c:v>
                </c:pt>
                <c:pt idx="155">
                  <c:v>9/25 14:50</c:v>
                </c:pt>
                <c:pt idx="156">
                  <c:v>9/25 15:00</c:v>
                </c:pt>
                <c:pt idx="157">
                  <c:v>9/25 15:10</c:v>
                </c:pt>
                <c:pt idx="158">
                  <c:v>9/25 15:20</c:v>
                </c:pt>
                <c:pt idx="159">
                  <c:v>9/25 15:30</c:v>
                </c:pt>
                <c:pt idx="160">
                  <c:v>9/25 15:40</c:v>
                </c:pt>
                <c:pt idx="161">
                  <c:v>9/25 15:50</c:v>
                </c:pt>
                <c:pt idx="162">
                  <c:v>9/25 16:00</c:v>
                </c:pt>
                <c:pt idx="163">
                  <c:v>9/25 16:10</c:v>
                </c:pt>
                <c:pt idx="164">
                  <c:v>9/25 16:20</c:v>
                </c:pt>
                <c:pt idx="165">
                  <c:v>9/25 16:30</c:v>
                </c:pt>
                <c:pt idx="166">
                  <c:v>9/25 16:40</c:v>
                </c:pt>
                <c:pt idx="167">
                  <c:v>9/25 16:50</c:v>
                </c:pt>
                <c:pt idx="168">
                  <c:v>9/25 17:00</c:v>
                </c:pt>
                <c:pt idx="169">
                  <c:v>9/25 17:10</c:v>
                </c:pt>
                <c:pt idx="170">
                  <c:v>9/25 17:20</c:v>
                </c:pt>
                <c:pt idx="171">
                  <c:v>9/25 17:30</c:v>
                </c:pt>
                <c:pt idx="172">
                  <c:v>9/25 17:40</c:v>
                </c:pt>
                <c:pt idx="173">
                  <c:v>9/25 17:50</c:v>
                </c:pt>
                <c:pt idx="174">
                  <c:v>9/25 18:00</c:v>
                </c:pt>
                <c:pt idx="175">
                  <c:v>9/25 18:10</c:v>
                </c:pt>
                <c:pt idx="176">
                  <c:v>9/25 18:20</c:v>
                </c:pt>
                <c:pt idx="177">
                  <c:v>9/25 18:30</c:v>
                </c:pt>
                <c:pt idx="178">
                  <c:v>9/25 18:40</c:v>
                </c:pt>
                <c:pt idx="179">
                  <c:v>9/25 18:50</c:v>
                </c:pt>
                <c:pt idx="180">
                  <c:v>9/25 19:00</c:v>
                </c:pt>
                <c:pt idx="181">
                  <c:v>9/25 19:10</c:v>
                </c:pt>
                <c:pt idx="182">
                  <c:v>9/25 19:20</c:v>
                </c:pt>
                <c:pt idx="183">
                  <c:v>9/25 19:30</c:v>
                </c:pt>
                <c:pt idx="184">
                  <c:v>9/25 19:40</c:v>
                </c:pt>
                <c:pt idx="185">
                  <c:v>9/25 19:50</c:v>
                </c:pt>
                <c:pt idx="186">
                  <c:v>9/25 20:00</c:v>
                </c:pt>
                <c:pt idx="187">
                  <c:v>9/25 20:10</c:v>
                </c:pt>
                <c:pt idx="188">
                  <c:v>9/25 20:20</c:v>
                </c:pt>
                <c:pt idx="189">
                  <c:v>9/25 20:30</c:v>
                </c:pt>
                <c:pt idx="190">
                  <c:v>9/25 20:40</c:v>
                </c:pt>
                <c:pt idx="191">
                  <c:v>9/25 20:50</c:v>
                </c:pt>
                <c:pt idx="192">
                  <c:v>9/25 21:00</c:v>
                </c:pt>
                <c:pt idx="193">
                  <c:v>9/25 21:10</c:v>
                </c:pt>
                <c:pt idx="194">
                  <c:v>9/25 21:20</c:v>
                </c:pt>
                <c:pt idx="195">
                  <c:v>9/25 21:30</c:v>
                </c:pt>
                <c:pt idx="196">
                  <c:v>9/25 21:40</c:v>
                </c:pt>
                <c:pt idx="197">
                  <c:v>9/25 21:50</c:v>
                </c:pt>
                <c:pt idx="198">
                  <c:v>9/25 22:00</c:v>
                </c:pt>
                <c:pt idx="199">
                  <c:v>9/25 22:10</c:v>
                </c:pt>
                <c:pt idx="200">
                  <c:v>9/25 22:20</c:v>
                </c:pt>
              </c:strCache>
            </c:strRef>
          </c:cat>
          <c:val>
            <c:numRef>
              <c:f>Sheet1!$B$2:$B$202</c:f>
              <c:numCache>
                <c:formatCode>General</c:formatCode>
                <c:ptCount val="201"/>
                <c:pt idx="0">
                  <c:v>2.1499999999999998E-2</c:v>
                </c:pt>
                <c:pt idx="1">
                  <c:v>2.35E-2</c:v>
                </c:pt>
                <c:pt idx="2">
                  <c:v>2.3400000000000001E-2</c:v>
                </c:pt>
                <c:pt idx="3">
                  <c:v>2.3699999999999999E-2</c:v>
                </c:pt>
                <c:pt idx="4">
                  <c:v>2.46E-2</c:v>
                </c:pt>
                <c:pt idx="5">
                  <c:v>2.3900000000000001E-2</c:v>
                </c:pt>
                <c:pt idx="6">
                  <c:v>2.29E-2</c:v>
                </c:pt>
                <c:pt idx="7">
                  <c:v>2.2200000000000001E-2</c:v>
                </c:pt>
                <c:pt idx="8">
                  <c:v>2.3400000000000001E-2</c:v>
                </c:pt>
                <c:pt idx="9">
                  <c:v>2.5600000000000001E-2</c:v>
                </c:pt>
                <c:pt idx="10">
                  <c:v>2.1499999999999998E-2</c:v>
                </c:pt>
                <c:pt idx="11">
                  <c:v>2.46E-2</c:v>
                </c:pt>
                <c:pt idx="12">
                  <c:v>2.4899999999999999E-2</c:v>
                </c:pt>
                <c:pt idx="13">
                  <c:v>2.52E-2</c:v>
                </c:pt>
                <c:pt idx="14">
                  <c:v>2.3800000000000002E-2</c:v>
                </c:pt>
                <c:pt idx="15">
                  <c:v>2.1899999999999999E-2</c:v>
                </c:pt>
                <c:pt idx="16">
                  <c:v>2.47E-2</c:v>
                </c:pt>
                <c:pt idx="17">
                  <c:v>2.3599999999999999E-2</c:v>
                </c:pt>
                <c:pt idx="18">
                  <c:v>2.2499999999999999E-2</c:v>
                </c:pt>
                <c:pt idx="19">
                  <c:v>2.4199999999999999E-2</c:v>
                </c:pt>
                <c:pt idx="20">
                  <c:v>2.35E-2</c:v>
                </c:pt>
                <c:pt idx="21">
                  <c:v>2.4199999999999999E-2</c:v>
                </c:pt>
                <c:pt idx="22">
                  <c:v>2.3900000000000001E-2</c:v>
                </c:pt>
                <c:pt idx="23">
                  <c:v>2.4400000000000002E-2</c:v>
                </c:pt>
                <c:pt idx="24">
                  <c:v>2.4400000000000002E-2</c:v>
                </c:pt>
                <c:pt idx="25">
                  <c:v>2.3E-2</c:v>
                </c:pt>
                <c:pt idx="26">
                  <c:v>2.3199999999999998E-2</c:v>
                </c:pt>
                <c:pt idx="27">
                  <c:v>2.3199999999999998E-2</c:v>
                </c:pt>
                <c:pt idx="28">
                  <c:v>2.3300000000000001E-2</c:v>
                </c:pt>
                <c:pt idx="29">
                  <c:v>2.3599999999999999E-2</c:v>
                </c:pt>
                <c:pt idx="30">
                  <c:v>2.2800000000000001E-2</c:v>
                </c:pt>
                <c:pt idx="31">
                  <c:v>2.24E-2</c:v>
                </c:pt>
                <c:pt idx="32">
                  <c:v>2.5000000000000001E-2</c:v>
                </c:pt>
                <c:pt idx="33">
                  <c:v>2.4E-2</c:v>
                </c:pt>
                <c:pt idx="34">
                  <c:v>2.4899999999999999E-2</c:v>
                </c:pt>
                <c:pt idx="35">
                  <c:v>2.29E-2</c:v>
                </c:pt>
                <c:pt idx="36">
                  <c:v>2.3E-2</c:v>
                </c:pt>
                <c:pt idx="37">
                  <c:v>2.41E-2</c:v>
                </c:pt>
                <c:pt idx="38">
                  <c:v>2.41E-2</c:v>
                </c:pt>
                <c:pt idx="39">
                  <c:v>2.35E-2</c:v>
                </c:pt>
                <c:pt idx="40">
                  <c:v>2.1700000000000001E-2</c:v>
                </c:pt>
                <c:pt idx="41">
                  <c:v>2.3400000000000001E-2</c:v>
                </c:pt>
                <c:pt idx="42">
                  <c:v>2.35E-2</c:v>
                </c:pt>
                <c:pt idx="43">
                  <c:v>2.3900000000000001E-2</c:v>
                </c:pt>
                <c:pt idx="44">
                  <c:v>2.3E-2</c:v>
                </c:pt>
                <c:pt idx="45">
                  <c:v>2.3900000000000001E-2</c:v>
                </c:pt>
                <c:pt idx="46">
                  <c:v>2.3800000000000002E-2</c:v>
                </c:pt>
                <c:pt idx="47">
                  <c:v>2.4199999999999999E-2</c:v>
                </c:pt>
                <c:pt idx="48">
                  <c:v>2.35E-2</c:v>
                </c:pt>
                <c:pt idx="49">
                  <c:v>2.3800000000000002E-2</c:v>
                </c:pt>
                <c:pt idx="50">
                  <c:v>2.3099999999999999E-2</c:v>
                </c:pt>
                <c:pt idx="51">
                  <c:v>2.1999999999999999E-2</c:v>
                </c:pt>
                <c:pt idx="52">
                  <c:v>2.3199999999999998E-2</c:v>
                </c:pt>
                <c:pt idx="53">
                  <c:v>2.1999999999999999E-2</c:v>
                </c:pt>
                <c:pt idx="54">
                  <c:v>2.4199999999999999E-2</c:v>
                </c:pt>
                <c:pt idx="55">
                  <c:v>2.5399999999999999E-2</c:v>
                </c:pt>
                <c:pt idx="56">
                  <c:v>2.24E-2</c:v>
                </c:pt>
                <c:pt idx="57">
                  <c:v>2.3300000000000001E-2</c:v>
                </c:pt>
                <c:pt idx="58">
                  <c:v>2.3400000000000001E-2</c:v>
                </c:pt>
                <c:pt idx="59">
                  <c:v>2.2700000000000001E-2</c:v>
                </c:pt>
                <c:pt idx="60">
                  <c:v>2.4199999999999999E-2</c:v>
                </c:pt>
                <c:pt idx="61">
                  <c:v>2.3199999999999998E-2</c:v>
                </c:pt>
                <c:pt idx="62">
                  <c:v>2.2599999999999999E-2</c:v>
                </c:pt>
                <c:pt idx="63">
                  <c:v>2.3E-2</c:v>
                </c:pt>
                <c:pt idx="64">
                  <c:v>2.46E-2</c:v>
                </c:pt>
                <c:pt idx="65">
                  <c:v>2.23E-2</c:v>
                </c:pt>
                <c:pt idx="66">
                  <c:v>2.4199999999999999E-2</c:v>
                </c:pt>
                <c:pt idx="67">
                  <c:v>2.2800000000000001E-2</c:v>
                </c:pt>
                <c:pt idx="68">
                  <c:v>2.3900000000000001E-2</c:v>
                </c:pt>
                <c:pt idx="69">
                  <c:v>2.3300000000000001E-2</c:v>
                </c:pt>
                <c:pt idx="70">
                  <c:v>2.3699999999999999E-2</c:v>
                </c:pt>
                <c:pt idx="71">
                  <c:v>2.1700000000000001E-2</c:v>
                </c:pt>
                <c:pt idx="72">
                  <c:v>2.47E-2</c:v>
                </c:pt>
                <c:pt idx="73">
                  <c:v>2.3099999999999999E-2</c:v>
                </c:pt>
                <c:pt idx="74">
                  <c:v>2.35E-2</c:v>
                </c:pt>
                <c:pt idx="75">
                  <c:v>2.1899999999999999E-2</c:v>
                </c:pt>
                <c:pt idx="76">
                  <c:v>2.41E-2</c:v>
                </c:pt>
                <c:pt idx="77">
                  <c:v>2.35E-2</c:v>
                </c:pt>
                <c:pt idx="78">
                  <c:v>2.3400000000000001E-2</c:v>
                </c:pt>
                <c:pt idx="79">
                  <c:v>2.4500000000000001E-2</c:v>
                </c:pt>
                <c:pt idx="80">
                  <c:v>2.4E-2</c:v>
                </c:pt>
                <c:pt idx="81">
                  <c:v>2.24E-2</c:v>
                </c:pt>
                <c:pt idx="82">
                  <c:v>2.2499999999999999E-2</c:v>
                </c:pt>
                <c:pt idx="83">
                  <c:v>2.3300000000000001E-2</c:v>
                </c:pt>
                <c:pt idx="84">
                  <c:v>2.3599999999999999E-2</c:v>
                </c:pt>
                <c:pt idx="85">
                  <c:v>2.3599999999999999E-2</c:v>
                </c:pt>
                <c:pt idx="86">
                  <c:v>2.47E-2</c:v>
                </c:pt>
                <c:pt idx="87">
                  <c:v>2.3800000000000002E-2</c:v>
                </c:pt>
                <c:pt idx="88">
                  <c:v>2.3199999999999998E-2</c:v>
                </c:pt>
                <c:pt idx="89">
                  <c:v>2.35E-2</c:v>
                </c:pt>
                <c:pt idx="90">
                  <c:v>2.41E-2</c:v>
                </c:pt>
                <c:pt idx="91">
                  <c:v>2.4E-2</c:v>
                </c:pt>
                <c:pt idx="92">
                  <c:v>2.2599999999999999E-2</c:v>
                </c:pt>
                <c:pt idx="93">
                  <c:v>2.4199999999999999E-2</c:v>
                </c:pt>
                <c:pt idx="94">
                  <c:v>2.2700000000000001E-2</c:v>
                </c:pt>
                <c:pt idx="95">
                  <c:v>2.3E-2</c:v>
                </c:pt>
                <c:pt idx="96">
                  <c:v>2.2700000000000001E-2</c:v>
                </c:pt>
                <c:pt idx="97">
                  <c:v>2.35E-2</c:v>
                </c:pt>
                <c:pt idx="98">
                  <c:v>2.1999999999999999E-2</c:v>
                </c:pt>
                <c:pt idx="99">
                  <c:v>2.23E-2</c:v>
                </c:pt>
                <c:pt idx="100">
                  <c:v>2.3E-2</c:v>
                </c:pt>
                <c:pt idx="101">
                  <c:v>2.3400000000000001E-2</c:v>
                </c:pt>
                <c:pt idx="102">
                  <c:v>2.3199999999999998E-2</c:v>
                </c:pt>
                <c:pt idx="103">
                  <c:v>2.2700000000000001E-2</c:v>
                </c:pt>
                <c:pt idx="104">
                  <c:v>2.3800000000000002E-2</c:v>
                </c:pt>
                <c:pt idx="105">
                  <c:v>2.3900000000000001E-2</c:v>
                </c:pt>
                <c:pt idx="106">
                  <c:v>2.4299999999999999E-2</c:v>
                </c:pt>
                <c:pt idx="107">
                  <c:v>2.3699999999999999E-2</c:v>
                </c:pt>
                <c:pt idx="108">
                  <c:v>2.29E-2</c:v>
                </c:pt>
                <c:pt idx="109">
                  <c:v>2.3E-2</c:v>
                </c:pt>
                <c:pt idx="110">
                  <c:v>2.2100000000000002E-2</c:v>
                </c:pt>
                <c:pt idx="111">
                  <c:v>2.4199999999999999E-2</c:v>
                </c:pt>
                <c:pt idx="112">
                  <c:v>2.1600000000000001E-2</c:v>
                </c:pt>
                <c:pt idx="113">
                  <c:v>2.3300000000000001E-2</c:v>
                </c:pt>
                <c:pt idx="114">
                  <c:v>2.3300000000000001E-2</c:v>
                </c:pt>
                <c:pt idx="115">
                  <c:v>2.35E-2</c:v>
                </c:pt>
                <c:pt idx="116">
                  <c:v>2.4199999999999999E-2</c:v>
                </c:pt>
                <c:pt idx="117">
                  <c:v>2.3199999999999998E-2</c:v>
                </c:pt>
                <c:pt idx="118">
                  <c:v>2.4299999999999999E-2</c:v>
                </c:pt>
                <c:pt idx="119">
                  <c:v>2.46E-2</c:v>
                </c:pt>
                <c:pt idx="120">
                  <c:v>2.4899999999999999E-2</c:v>
                </c:pt>
                <c:pt idx="121">
                  <c:v>2.3900000000000001E-2</c:v>
                </c:pt>
                <c:pt idx="122">
                  <c:v>2.3900000000000001E-2</c:v>
                </c:pt>
                <c:pt idx="123">
                  <c:v>2.4400000000000002E-2</c:v>
                </c:pt>
                <c:pt idx="124">
                  <c:v>2.3300000000000001E-2</c:v>
                </c:pt>
                <c:pt idx="125">
                  <c:v>2.3699999999999999E-2</c:v>
                </c:pt>
                <c:pt idx="126">
                  <c:v>2.24E-2</c:v>
                </c:pt>
                <c:pt idx="127">
                  <c:v>2.2700000000000001E-2</c:v>
                </c:pt>
                <c:pt idx="128">
                  <c:v>2.3800000000000002E-2</c:v>
                </c:pt>
                <c:pt idx="129">
                  <c:v>2.4199999999999999E-2</c:v>
                </c:pt>
                <c:pt idx="130">
                  <c:v>2.4E-2</c:v>
                </c:pt>
                <c:pt idx="131">
                  <c:v>2.2599999999999999E-2</c:v>
                </c:pt>
                <c:pt idx="132">
                  <c:v>2.2499999999999999E-2</c:v>
                </c:pt>
                <c:pt idx="133">
                  <c:v>2.4E-2</c:v>
                </c:pt>
                <c:pt idx="134">
                  <c:v>2.3099999999999999E-2</c:v>
                </c:pt>
                <c:pt idx="135">
                  <c:v>2.1600000000000001E-2</c:v>
                </c:pt>
                <c:pt idx="136">
                  <c:v>2.29E-2</c:v>
                </c:pt>
                <c:pt idx="137">
                  <c:v>2.3199999999999998E-2</c:v>
                </c:pt>
                <c:pt idx="138">
                  <c:v>2.1899999999999999E-2</c:v>
                </c:pt>
                <c:pt idx="139">
                  <c:v>2.1600000000000001E-2</c:v>
                </c:pt>
                <c:pt idx="140">
                  <c:v>2.4E-2</c:v>
                </c:pt>
                <c:pt idx="141">
                  <c:v>2.3400000000000001E-2</c:v>
                </c:pt>
                <c:pt idx="142">
                  <c:v>2.2499999999999999E-2</c:v>
                </c:pt>
                <c:pt idx="143">
                  <c:v>2.41E-2</c:v>
                </c:pt>
                <c:pt idx="144">
                  <c:v>2.41E-2</c:v>
                </c:pt>
                <c:pt idx="145">
                  <c:v>2.3E-2</c:v>
                </c:pt>
                <c:pt idx="146">
                  <c:v>2.4899999999999999E-2</c:v>
                </c:pt>
                <c:pt idx="147">
                  <c:v>2.3599999999999999E-2</c:v>
                </c:pt>
                <c:pt idx="148">
                  <c:v>2.2200000000000001E-2</c:v>
                </c:pt>
                <c:pt idx="149">
                  <c:v>2.3400000000000001E-2</c:v>
                </c:pt>
                <c:pt idx="150">
                  <c:v>2.24E-2</c:v>
                </c:pt>
                <c:pt idx="151">
                  <c:v>2.4299999999999999E-2</c:v>
                </c:pt>
                <c:pt idx="152">
                  <c:v>2.1999999999999999E-2</c:v>
                </c:pt>
                <c:pt idx="153">
                  <c:v>2.3199999999999998E-2</c:v>
                </c:pt>
                <c:pt idx="154">
                  <c:v>2.3699999999999999E-2</c:v>
                </c:pt>
                <c:pt idx="155">
                  <c:v>2.41E-2</c:v>
                </c:pt>
                <c:pt idx="156">
                  <c:v>2.4E-2</c:v>
                </c:pt>
                <c:pt idx="157">
                  <c:v>2.35E-2</c:v>
                </c:pt>
                <c:pt idx="158">
                  <c:v>2.23E-2</c:v>
                </c:pt>
                <c:pt idx="159">
                  <c:v>2.58E-2</c:v>
                </c:pt>
                <c:pt idx="160">
                  <c:v>2.3099999999999999E-2</c:v>
                </c:pt>
                <c:pt idx="161">
                  <c:v>2.3099999999999999E-2</c:v>
                </c:pt>
                <c:pt idx="162">
                  <c:v>2.3400000000000001E-2</c:v>
                </c:pt>
                <c:pt idx="163">
                  <c:v>2.46E-2</c:v>
                </c:pt>
                <c:pt idx="164">
                  <c:v>2.3300000000000001E-2</c:v>
                </c:pt>
                <c:pt idx="165">
                  <c:v>2.3E-2</c:v>
                </c:pt>
                <c:pt idx="166">
                  <c:v>2.3800000000000002E-2</c:v>
                </c:pt>
                <c:pt idx="167">
                  <c:v>2.3599999999999999E-2</c:v>
                </c:pt>
                <c:pt idx="168">
                  <c:v>2.1899999999999999E-2</c:v>
                </c:pt>
                <c:pt idx="169">
                  <c:v>2.3300000000000001E-2</c:v>
                </c:pt>
                <c:pt idx="170">
                  <c:v>2.3900000000000001E-2</c:v>
                </c:pt>
                <c:pt idx="171">
                  <c:v>2.3300000000000001E-2</c:v>
                </c:pt>
                <c:pt idx="172">
                  <c:v>2.4400000000000002E-2</c:v>
                </c:pt>
                <c:pt idx="173">
                  <c:v>2.3599999999999999E-2</c:v>
                </c:pt>
                <c:pt idx="174">
                  <c:v>2.29E-2</c:v>
                </c:pt>
                <c:pt idx="175">
                  <c:v>2.4500000000000001E-2</c:v>
                </c:pt>
                <c:pt idx="176">
                  <c:v>2.4199999999999999E-2</c:v>
                </c:pt>
                <c:pt idx="177">
                  <c:v>2.3599999999999999E-2</c:v>
                </c:pt>
                <c:pt idx="178">
                  <c:v>2.4500000000000001E-2</c:v>
                </c:pt>
                <c:pt idx="179">
                  <c:v>2.5899999999999999E-2</c:v>
                </c:pt>
                <c:pt idx="180">
                  <c:v>2.3699999999999999E-2</c:v>
                </c:pt>
                <c:pt idx="181">
                  <c:v>2.4899999999999999E-2</c:v>
                </c:pt>
                <c:pt idx="182">
                  <c:v>2.3800000000000002E-2</c:v>
                </c:pt>
                <c:pt idx="183">
                  <c:v>2.3300000000000001E-2</c:v>
                </c:pt>
                <c:pt idx="184">
                  <c:v>2.3800000000000002E-2</c:v>
                </c:pt>
                <c:pt idx="185">
                  <c:v>2.4500000000000001E-2</c:v>
                </c:pt>
                <c:pt idx="186">
                  <c:v>2.2700000000000001E-2</c:v>
                </c:pt>
                <c:pt idx="187">
                  <c:v>2.2599999999999999E-2</c:v>
                </c:pt>
                <c:pt idx="188">
                  <c:v>2.3800000000000002E-2</c:v>
                </c:pt>
                <c:pt idx="189">
                  <c:v>2.4500000000000001E-2</c:v>
                </c:pt>
                <c:pt idx="190">
                  <c:v>2.35E-2</c:v>
                </c:pt>
                <c:pt idx="191">
                  <c:v>2.4299999999999999E-2</c:v>
                </c:pt>
                <c:pt idx="192">
                  <c:v>2.35E-2</c:v>
                </c:pt>
                <c:pt idx="193">
                  <c:v>2.3699999999999999E-2</c:v>
                </c:pt>
                <c:pt idx="194">
                  <c:v>2.2200000000000001E-2</c:v>
                </c:pt>
                <c:pt idx="195">
                  <c:v>2.3099999999999999E-2</c:v>
                </c:pt>
                <c:pt idx="196">
                  <c:v>2.4E-2</c:v>
                </c:pt>
                <c:pt idx="197">
                  <c:v>2.3400000000000001E-2</c:v>
                </c:pt>
                <c:pt idx="198">
                  <c:v>2.3199999999999998E-2</c:v>
                </c:pt>
                <c:pt idx="199">
                  <c:v>2.3699999999999999E-2</c:v>
                </c:pt>
                <c:pt idx="200">
                  <c:v>2.2700000000000001E-2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C3-4ABB-9216-FBB150D7BA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ED6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BIZ UDPGothic"/>
              </a:defRPr>
            </a:pPr>
            <a:endParaRPr lang="ja-JP"/>
          </a:p>
        </c:txPr>
        <c:crossAx val="2094734552"/>
        <c:crosses val="autoZero"/>
        <c:auto val="1"/>
        <c:lblAlgn val="ctr"/>
        <c:lblOffset val="100"/>
        <c:tickLblSkip val="36"/>
        <c:noMultiLvlLbl val="1"/>
      </c:catAx>
      <c:valAx>
        <c:axId val="2094734552"/>
        <c:scaling>
          <c:orientation val="minMax"/>
          <c:max val="0.0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0"/>
                </a:solidFill>
                <a:latin typeface="BIZ UDPGothic"/>
              </a:defRPr>
            </a:pPr>
            <a:endParaRPr lang="ja-JP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21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【0:00–0:15】
Plant Doctor です。植物ごとの「いつも」をその場で覚えて、調子を診て、必要なら水をやるエッジAIです。
（第一声の候補・どれか1つ）
・同じ「土が乾いた」でも、この子にとって危ないかどうかは、この子の「いつも」で決まります。
・水をやりすぎても、やらなすぎても植物は弱ります。ちょうどいい量は株ごとに違います。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【0:15–0:40】
一般的な自動水やりは、土の水分が決めた値を下回ったら水をやります。でも同じ30%でも、サボテンには多すぎ、シダには足りません。土が湿っていても強い日差しで葉が傷むことがあり、ポンプが動いても水が届かないこと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【0:40–1:05】
Plant Doctor は、測る、いつもと比べる、原因を示して水をやる、確かめる、を1台で回します。いつもと比べるのがロームの Solist-AI で、原因の判断と給水は、安全のためにルールで行います。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【1:05–1:30】
これは実機のログです。健康な状態が33時間続いた区間で、照明がついている間、葉温は気温より平均0.69℃低く、ばらつきは±0.09℃でした。この「いつも」は、株や置き場所ごとに違います。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【2:05–2:35】
Solist-AI には、葉温と気温の差、葉温と土の水分の変化の速さなど8つの値を入れ、その株の健康なときだけを学ばせます。いつもと違う状態はうまく復元できず誤差が増えるので、そのずれを0から100の異常度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00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【1:30–2:05】
ここが従来との違いです。土がいつもより速く乾き、葉温がいつもの範囲から上がり始めると、まだ30%を切っていなくても、Plant Doctor は「いつもと違う」と気づきます。しきい値方式が気づくのは、30%を切ってからです。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1496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【2:35–3:05】
その場で学び続けるAIは、弱った状態まで「いつも」として覚える危険があります。そこで、健康で、センサーが正常で、AIもいつもと違うと見ていないときだけ学びます。照明の切り替えのように30分続く変化は、新しいいつもとして学び直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178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【3:05–3:25】
いつもと違うと気づいたら、原因の候補を示します。乾燥なら最大10秒まで安全に自動給水し、暑さなら対策を促し、水をやっても土の水分が増えなければ給水失敗として知らせます。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【3:25–4:30】
実機のデモです。
（動画 45〜60秒。動画に音声がなければ、映像に合わせて話す：いまは健康で、いつもを学んでいます。いつもと違う状態が続くと異常度が上がって WARNING が出て、学習を絞ります）
右は実機ダッシュボードの記録で、ポンプを動かしたあと、葉温と気温の差とストレスが下がりました。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【4:30–4:45】
Plant Doctor は、植物の「いつも」をその場で覚え、そこからのずれで異常に気づくお医者さんです。ソースコードと解説は GitHub で公開しています。ありがとうございました。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【1:30–2:00】
Solist-AI は、葉温と気温の差や、葉温と土の水分の変化の速さを含む8つの値を、健康なときだけ1秒ごとにチップ上で学びます。実機では、健康な33時間、いつもとのずれを表す誤差は0.022前後で安定していました。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63A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Plant Doctor ｜ ROHM EDGE HACK CHALLENGE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vCdIFFWTy9g" TargetMode="Externa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dirty="0">
                <a:solidFill>
                  <a:srgbClr val="BFD8C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ROHM EDGE HACK CHALLENGE 2026　最終審査会</a:t>
            </a:r>
            <a:endParaRPr lang="ja-JP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Plant Doctor</a:t>
            </a:r>
            <a:endParaRPr lang="ja-JP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5852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植物の「いつも」をその場で覚え、</a:t>
            </a:r>
            <a:endParaRPr lang="ja-JP" sz="2400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異常のときは覚えないエッジAI</a:t>
            </a:r>
            <a:endParaRPr lang="ja-JP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760720" cy="822960"/>
          </a:xfrm>
          <a:prstGeom prst="roundRect">
            <a:avLst>
              <a:gd name="adj" fmla="val 11111"/>
            </a:avLst>
          </a:prstGeom>
          <a:solidFill>
            <a:srgbClr val="214E31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41648"/>
            <a:ext cx="5394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ja-JP" altLang="en-US" sz="1400" dirty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5種の生体・環境センサー × 閉ループ自律</a:t>
            </a:r>
            <a:r>
              <a:rPr lang="ja-JP" altLang="en-US" sz="1400" dirty="0" smtClean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給水</a:t>
            </a:r>
            <a:endParaRPr lang="en-US" altLang="ja-JP" sz="1400" dirty="0" smtClean="0">
              <a:solidFill>
                <a:srgbClr val="CFE8D3"/>
              </a:solidFill>
              <a:latin typeface="BIZ UDPGothic" pitchFamily="34" charset="0"/>
              <a:ea typeface="BIZ UDPGothic" pitchFamily="34" charset="-122"/>
              <a:cs typeface="BIZ UDPGothic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ja-JP" altLang="en-US" sz="1400" dirty="0" smtClean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DT</a:t>
            </a:r>
            <a:r>
              <a:rPr lang="ja-JP" altLang="en-US" sz="1400" dirty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-EBML63Q2557（Solist-AI™）オンデバイス</a:t>
            </a:r>
            <a:r>
              <a:rPr lang="ja-JP" altLang="en-US" sz="1400" dirty="0" smtClean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</a:t>
            </a:r>
            <a:endParaRPr lang="ja-JP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394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600" dirty="0" err="1" smtClean="0">
                <a:solidFill>
                  <a:srgbClr val="BFD8C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hino</a:t>
            </a:r>
            <a:r>
              <a:rPr lang="ja-JP" altLang="en-US" sz="1600" dirty="0" smtClean="0">
                <a:solidFill>
                  <a:srgbClr val="BFD8C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</a:t>
            </a:r>
            <a:r>
              <a:rPr lang="ja-JP" altLang="en-US" sz="1600" dirty="0">
                <a:solidFill>
                  <a:srgbClr val="BFD8C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@horned128）</a:t>
            </a:r>
            <a:endParaRPr lang="ja-JP" sz="1600" dirty="0"/>
          </a:p>
        </p:txBody>
      </p:sp>
      <p:pic>
        <p:nvPicPr>
          <p:cNvPr id="8" name="Image 0" descr="Plant Doctor の実機。観葉植物、センサー、本体の液晶、ノートPCのダッシュボー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005840"/>
            <a:ext cx="5029200" cy="377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294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BFD8C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実機（観葉植物・センサー・本体・Webダッシュボード）</a:t>
            </a:r>
            <a:endParaRPr lang="ja-JP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b="1" dirty="0" smtClean="0">
                <a:solidFill>
                  <a:schemeClr val="accent1"/>
                </a:solidFill>
              </a:rPr>
              <a:t>これまでの課題</a:t>
            </a:r>
            <a:r>
              <a:rPr lang="ja-JP" altLang="en-US" dirty="0" smtClean="0"/>
              <a:t>： </a:t>
            </a:r>
            <a:r>
              <a:rPr lang="en-US" sz="1600" b="1" dirty="0" err="1" smtClean="0">
                <a:solidFill>
                  <a:schemeClr val="accent1"/>
                </a:solidFill>
              </a:rPr>
              <a:t>水やりの判断</a:t>
            </a:r>
            <a:r>
              <a:rPr lang="ja-JP" altLang="en-US" dirty="0" smtClean="0"/>
              <a:t>がルールベース、最適な土壌水分は植物によって違う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土の乾き具合と固定のしきい値だけでは、植物の状態は分からない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ja-JP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2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同じ30%でも違う</a:t>
            </a:r>
            <a:endParaRPr lang="ja-JP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6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同じ土壌水分30%でも、サボテンには多すぎ、シダ植物には足りない</a:t>
            </a:r>
            <a:endParaRPr lang="ja-JP" sz="1650" dirty="0"/>
          </a:p>
        </p:txBody>
      </p:sp>
      <p:sp>
        <p:nvSpPr>
          <p:cNvPr id="9" name="Shape 7"/>
          <p:cNvSpPr/>
          <p:nvPr/>
        </p:nvSpPr>
        <p:spPr>
          <a:xfrm>
            <a:off x="749808" y="4800600"/>
            <a:ext cx="31181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487375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45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解決：株と置き場所ごとの「いつも」を</a:t>
            </a:r>
            <a:r>
              <a:rPr lang="ja-JP" altLang="en-US" sz="1450" b="1" dirty="0" smtClean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学ぶ→</a:t>
            </a:r>
            <a:r>
              <a:rPr lang="en-US" altLang="ja-JP" sz="1450" b="1" dirty="0" err="1" smtClean="0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Solist</a:t>
            </a:r>
            <a:r>
              <a:rPr lang="en-US" altLang="ja-JP" sz="1450" b="1" dirty="0" smtClean="0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-AI</a:t>
            </a:r>
            <a:endParaRPr lang="ja-JP" sz="1450" dirty="0">
              <a:solidFill>
                <a:srgbClr val="FF0000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1945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ja-JP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34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2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土が湿っていても弱る</a:t>
            </a:r>
            <a:endParaRPr lang="ja-JP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520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6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強い日差しの中では、土は湿っているのに葉が熱で傷むことがある</a:t>
            </a:r>
            <a:endParaRPr lang="ja-JP" sz="1650" dirty="0"/>
          </a:p>
        </p:txBody>
      </p:sp>
      <p:sp>
        <p:nvSpPr>
          <p:cNvPr id="16" name="Shape 14"/>
          <p:cNvSpPr/>
          <p:nvPr/>
        </p:nvSpPr>
        <p:spPr>
          <a:xfrm>
            <a:off x="4498848" y="4800600"/>
            <a:ext cx="31181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26864" y="487375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ja-JP" altLang="en-US" sz="145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解決：葉温と気温の差で葉の蒸散を</a:t>
            </a:r>
            <a:r>
              <a:rPr lang="ja-JP" altLang="en-US" sz="145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診る→</a:t>
            </a:r>
            <a:r>
              <a:rPr lang="en-US" altLang="ja-JP" sz="1450" b="1" dirty="0" err="1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Solist</a:t>
            </a:r>
            <a:r>
              <a:rPr lang="en-US" altLang="ja-JP" sz="1450" b="1" dirty="0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-AI</a:t>
            </a:r>
            <a:endParaRPr lang="ja-JP" sz="1450" dirty="0"/>
          </a:p>
        </p:txBody>
      </p:sp>
      <p:sp>
        <p:nvSpPr>
          <p:cNvPr id="18" name="Shape 16"/>
          <p:cNvSpPr/>
          <p:nvPr/>
        </p:nvSpPr>
        <p:spPr>
          <a:xfrm>
            <a:off x="8046720" y="196596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1945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ja-JP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834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21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水が届かないこともある</a:t>
            </a:r>
            <a:endParaRPr lang="ja-JP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352044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6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ポンプが動いても、タンクが空だったりホースが外れたりして水が届かない</a:t>
            </a:r>
            <a:endParaRPr lang="ja-JP" sz="1650" dirty="0"/>
          </a:p>
        </p:txBody>
      </p:sp>
      <p:sp>
        <p:nvSpPr>
          <p:cNvPr id="23" name="Shape 21"/>
          <p:cNvSpPr/>
          <p:nvPr/>
        </p:nvSpPr>
        <p:spPr>
          <a:xfrm>
            <a:off x="8247888" y="4800600"/>
            <a:ext cx="31181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75904" y="4873752"/>
            <a:ext cx="2862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ja-JP" altLang="en-US" sz="145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解決：給水後に水分と葉温の戻りを</a:t>
            </a:r>
            <a:r>
              <a:rPr lang="ja-JP" altLang="en-US" sz="145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確かめる→</a:t>
            </a:r>
            <a:r>
              <a:rPr lang="en-US" altLang="ja-JP" sz="1450" b="1" dirty="0" err="1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Solist</a:t>
            </a:r>
            <a:r>
              <a:rPr lang="en-US" altLang="ja-JP" sz="1450" b="1" dirty="0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-AI</a:t>
            </a:r>
            <a:endParaRPr lang="ja-JP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Plant Doctor の仕組み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測る・いつもと比べる・原因を示して水をやる・確かめる、を1台で回す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0" y="3337560"/>
            <a:ext cx="2011680" cy="1280160"/>
          </a:xfrm>
          <a:prstGeom prst="ellipse">
            <a:avLst/>
          </a:prstGeom>
          <a:solidFill>
            <a:srgbClr val="163A24"/>
          </a:solidFill>
          <a:ln w="12700">
            <a:solidFill>
              <a:srgbClr val="163A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0" y="333756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DT-EBML63Q2557</a:t>
            </a:r>
            <a:endParaRPr lang="ja-JP" sz="1300" dirty="0"/>
          </a:p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Solist-AI™</a:t>
            </a:r>
            <a:endParaRPr lang="ja-JP" sz="1300" dirty="0"/>
          </a:p>
        </p:txBody>
      </p:sp>
      <p:sp>
        <p:nvSpPr>
          <p:cNvPr id="6" name="Shape 4"/>
          <p:cNvSpPr/>
          <p:nvPr/>
        </p:nvSpPr>
        <p:spPr>
          <a:xfrm>
            <a:off x="2948940" y="178308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EEF5E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76956" y="201168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769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ja-JP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25596" y="18562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測る</a:t>
            </a:r>
            <a:endParaRPr lang="ja-JP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25596" y="2258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葉温・土壌など5種を毎秒</a:t>
            </a:r>
            <a:endParaRPr lang="ja-JP" sz="1250" dirty="0"/>
          </a:p>
        </p:txBody>
      </p:sp>
      <p:sp>
        <p:nvSpPr>
          <p:cNvPr id="11" name="Shape 9"/>
          <p:cNvSpPr/>
          <p:nvPr/>
        </p:nvSpPr>
        <p:spPr>
          <a:xfrm>
            <a:off x="5422392" y="352044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FFF4EC"/>
          </a:solidFill>
          <a:ln w="28575">
            <a:solidFill>
              <a:srgbClr val="C860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0408" y="3749040"/>
            <a:ext cx="457200" cy="457200"/>
          </a:xfrm>
          <a:prstGeom prst="ellipse">
            <a:avLst/>
          </a:prstGeom>
          <a:solidFill>
            <a:srgbClr val="C8601A"/>
          </a:solidFill>
          <a:ln w="12700">
            <a:solidFill>
              <a:srgbClr val="C860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5040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ja-JP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099048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いつもと比べる</a:t>
            </a:r>
            <a:endParaRPr lang="ja-JP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099048" y="39959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50" dirty="0">
                <a:solidFill>
                  <a:srgbClr val="FF00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Solist-AI </a:t>
            </a: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の異常度算出</a:t>
            </a:r>
            <a:endParaRPr lang="ja-JP" sz="1250" dirty="0"/>
          </a:p>
        </p:txBody>
      </p:sp>
      <p:sp>
        <p:nvSpPr>
          <p:cNvPr id="16" name="Shape 14"/>
          <p:cNvSpPr/>
          <p:nvPr/>
        </p:nvSpPr>
        <p:spPr>
          <a:xfrm>
            <a:off x="2948940" y="516636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EEF5E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6956" y="539496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76956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ja-JP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625596" y="523951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原因を示し給水</a:t>
            </a:r>
            <a:endParaRPr lang="ja-JP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625596" y="56418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ルール診断と安全タイマ</a:t>
            </a:r>
            <a:endParaRPr lang="ja-JP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2514600" cy="914400"/>
          </a:xfrm>
          <a:prstGeom prst="roundRect">
            <a:avLst>
              <a:gd name="adj" fmla="val 12000"/>
            </a:avLst>
          </a:prstGeom>
          <a:solidFill>
            <a:srgbClr val="EEF5E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749040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ja-JP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25296" y="3593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確かめる</a:t>
            </a:r>
            <a:endParaRPr lang="ja-JP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225296" y="39959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水分と葉温の戻りを検証</a:t>
            </a:r>
            <a:endParaRPr lang="ja-JP" sz="1250" dirty="0"/>
          </a:p>
        </p:txBody>
      </p:sp>
      <p:sp>
        <p:nvSpPr>
          <p:cNvPr id="26" name="Shape 24"/>
          <p:cNvSpPr/>
          <p:nvPr/>
        </p:nvSpPr>
        <p:spPr>
          <a:xfrm>
            <a:off x="5509260" y="2286000"/>
            <a:ext cx="1165860" cy="118872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509260" y="4480560"/>
            <a:ext cx="1165860" cy="114300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 flipV="1">
            <a:off x="1783080" y="4480560"/>
            <a:ext cx="1120140" cy="114300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1783080" y="2286000"/>
            <a:ext cx="1120140" cy="118872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tailEnd type="triangle"/>
          </a:ln>
        </p:spPr>
      </p:sp>
      <p:pic>
        <p:nvPicPr>
          <p:cNvPr id="30" name="Image 0" descr="Plant Doctor の実機の写真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783080"/>
            <a:ext cx="3474720" cy="193852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183880" y="3840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</a:t>
            </a:r>
            <a:endParaRPr lang="ja-JP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235440" y="3840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SEN0206（赤外線・非接触）</a:t>
            </a:r>
            <a:endParaRPr lang="ja-JP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83880" y="41696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気温・湿度</a:t>
            </a:r>
            <a:endParaRPr lang="ja-JP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9235440" y="416966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BME280</a:t>
            </a:r>
            <a:endParaRPr lang="ja-JP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183880" y="4498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照度</a:t>
            </a:r>
            <a:endParaRPr lang="ja-JP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235440" y="44988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SEN0228（生値を取得）</a:t>
            </a:r>
            <a:endParaRPr lang="ja-JP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183880" y="48280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土壌水分</a:t>
            </a:r>
            <a:endParaRPr lang="ja-JP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9235440" y="48280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SEN0193（静電容量式）</a:t>
            </a:r>
            <a:endParaRPr lang="ja-JP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515721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タンク液面</a:t>
            </a:r>
            <a:endParaRPr lang="ja-JP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9235440" y="51572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SEN0204（非接触）</a:t>
            </a:r>
            <a:endParaRPr lang="ja-JP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183880" y="5486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ポンプ</a:t>
            </a:r>
            <a:endParaRPr lang="ja-JP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9235440" y="54864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DFR0457 で駆動</a:t>
            </a:r>
            <a:endParaRPr lang="ja-JP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58155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表示</a:t>
            </a:r>
            <a:endParaRPr lang="ja-JP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9235440" y="58155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液晶、ATOMS3 Lite 経由の Web</a:t>
            </a:r>
            <a:endParaRPr lang="ja-JP" sz="12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kumimoji="1" lang="ja-JP" altLang="en-US" dirty="0" smtClean="0"/>
              <a:t>補足資料：　一般的な植物の特性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831103"/>
            <a:ext cx="11094415" cy="544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36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実機ログ：健康なときの「いつも」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健康な33時間</a:t>
            </a:r>
            <a:r>
              <a:rPr lang="en-US" sz="2600" b="1" dirty="0" smtClean="0">
                <a:solidFill>
                  <a:schemeClr val="tx1"/>
                </a:solidFill>
              </a:rPr>
              <a:t>、</a:t>
            </a:r>
            <a:r>
              <a:rPr lang="ja-JP" altLang="en-US" sz="2600" b="1" dirty="0" smtClean="0">
                <a:solidFill>
                  <a:schemeClr val="tx1"/>
                </a:solidFill>
              </a:rPr>
              <a:t>室内の快適な環境</a:t>
            </a:r>
            <a:r>
              <a:rPr lang="ja-JP" altLang="en-US" dirty="0"/>
              <a:t>で</a:t>
            </a:r>
            <a:r>
              <a:rPr lang="en-US" sz="2600" b="1" dirty="0" smtClean="0">
                <a:solidFill>
                  <a:schemeClr val="tx1"/>
                </a:solidFill>
              </a:rPr>
              <a:t>は葉温が気温より約</a:t>
            </a:r>
            <a:r>
              <a:rPr lang="en-US" sz="2600" b="1" dirty="0">
                <a:solidFill>
                  <a:schemeClr val="tx1"/>
                </a:solidFill>
              </a:rPr>
              <a:t>0.7℃低かった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75895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8308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85623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-0.69℃</a:t>
            </a:r>
            <a:endParaRPr lang="ja-JP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47802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点灯中の「葉温−気温」の平均</a:t>
            </a:r>
            <a:endParaRPr lang="ja-JP" sz="1350" dirty="0"/>
          </a:p>
          <a:p>
            <a:pPr marL="0" indent="0"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（ばらつき ±0.09℃）</a:t>
            </a:r>
            <a:endParaRPr lang="ja-JP" sz="1350" dirty="0"/>
          </a:p>
        </p:txBody>
      </p:sp>
      <p:sp>
        <p:nvSpPr>
          <p:cNvPr id="8" name="Shape 5"/>
          <p:cNvSpPr/>
          <p:nvPr/>
        </p:nvSpPr>
        <p:spPr>
          <a:xfrm>
            <a:off x="8366760" y="3218688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549640" y="329184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320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-0.43℃</a:t>
            </a:r>
            <a:endParaRPr lang="ja-JP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391363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消灯中の「葉温−気温」の平均</a:t>
            </a:r>
            <a:endParaRPr lang="ja-JP" sz="1350" dirty="0"/>
          </a:p>
          <a:p>
            <a:pPr marL="0" indent="0"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（蒸散が落ち着き気温に近づく）</a:t>
            </a:r>
            <a:endParaRPr lang="ja-JP" sz="1350" dirty="0"/>
          </a:p>
        </p:txBody>
      </p:sp>
      <p:sp>
        <p:nvSpPr>
          <p:cNvPr id="11" name="Shape 8"/>
          <p:cNvSpPr/>
          <p:nvPr/>
        </p:nvSpPr>
        <p:spPr>
          <a:xfrm>
            <a:off x="8366760" y="4654296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49640" y="472744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29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201件</a:t>
            </a:r>
            <a:endParaRPr lang="ja-JP" sz="290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534924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すべて診断「健康」</a:t>
            </a:r>
            <a:endParaRPr lang="ja-JP" sz="1350" dirty="0"/>
          </a:p>
          <a:p>
            <a:pPr marL="0" indent="0"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（10分ごとの実機記録）</a:t>
            </a:r>
            <a:endParaRPr lang="ja-JP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80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実機ログ：2026/9/24 13:00〜9/25 22:20、201件（10分間隔）。照度の生値が100超を点灯中とした</a:t>
            </a:r>
            <a:endParaRPr lang="ja-JP" sz="1100" dirty="0"/>
          </a:p>
        </p:txBody>
      </p:sp>
      <p:sp>
        <p:nvSpPr>
          <p:cNvPr id="15" name="Shape 12"/>
          <p:cNvSpPr/>
          <p:nvPr/>
        </p:nvSpPr>
        <p:spPr>
          <a:xfrm>
            <a:off x="10545775" y="36576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545775" y="365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実機ログ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Solist-AI™ の使い方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変化の速さを含む8つの値で「いつも」を学び、ずれを異常度にする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土壌水分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340864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34086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5292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気温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4EC"/>
          </a:solidFill>
          <a:ln w="19050">
            <a:solidFill>
              <a:srgbClr val="C86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649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葉温−気温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8770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湿度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389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照度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4EC"/>
          </a:solidFill>
          <a:ln w="19050">
            <a:solidFill>
              <a:srgbClr val="C860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90118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葉温の変化速度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5413248"/>
            <a:ext cx="2194560" cy="420624"/>
          </a:xfrm>
          <a:prstGeom prst="roundRect">
            <a:avLst>
              <a:gd name="adj" fmla="val 17391"/>
            </a:avLst>
          </a:prstGeom>
          <a:solidFill>
            <a:srgbClr val="FFF4EC"/>
          </a:solidFill>
          <a:ln w="19050">
            <a:solidFill>
              <a:srgbClr val="C860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4132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土壌水分の変化速度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29000" y="201968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51117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300266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349415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398564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447713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29000" y="496862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546011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5852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 8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09160" y="1896808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142554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388299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634044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879788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125534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371279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617024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3862768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4108514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4354258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4600004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845749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5091493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9160" y="5337238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5582983"/>
            <a:ext cx="201168" cy="201168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160520" y="5852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中間 64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989320" y="201968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89320" y="251117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300266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349415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89320" y="398564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89320" y="447713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89320" y="496862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5460111"/>
            <a:ext cx="201168" cy="201168"/>
          </a:xfrm>
          <a:prstGeom prst="ellipse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40680" y="585216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復元 8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880360" y="3657600"/>
            <a:ext cx="411480" cy="320040"/>
          </a:xfrm>
          <a:prstGeom prst="rightArrow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0" y="3657600"/>
            <a:ext cx="411480" cy="320040"/>
          </a:xfrm>
          <a:prstGeom prst="rightArrow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95160" y="1783080"/>
            <a:ext cx="4663440" cy="4343400"/>
          </a:xfrm>
          <a:prstGeom prst="roundRect">
            <a:avLst>
              <a:gd name="adj" fmla="val 2526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22376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異常度の決め方</a:t>
            </a:r>
            <a:endParaRPr kumimoji="0" lang="ja-JP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269480" y="2487168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26948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1" name="Text 59"/>
          <p:cNvSpPr txBox="1"/>
          <p:nvPr/>
        </p:nvSpPr>
        <p:spPr>
          <a:xfrm>
            <a:off x="7863840" y="24231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健康なときだけ学ぶので、いつもと違う入力はうまく復元できず、誤差（再構成誤差）が増える</a:t>
            </a:r>
            <a:endParaRPr kumimoji="0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7269480" y="3273552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269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7863840" y="3209544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健康なときの誤差の水準とばらつきを、その株ごとに覚える</a:t>
            </a:r>
            <a:endParaRPr kumimoji="0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269480" y="4059936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2694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7" name="Text 65"/>
          <p:cNvSpPr txBox="1"/>
          <p:nvPr/>
        </p:nvSpPr>
        <p:spPr>
          <a:xfrm>
            <a:off x="7863840" y="399592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今の誤差がばらつきの何倍ずれたかを、0〜100の異常度にする</a:t>
            </a:r>
            <a:endParaRPr kumimoji="0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7269480" y="4846320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2694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70" name="Text 68"/>
          <p:cNvSpPr txBox="1"/>
          <p:nvPr/>
        </p:nvSpPr>
        <p:spPr>
          <a:xfrm>
            <a:off x="7863840" y="478231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異常度50以上が約1分続いたら「いつもと違う」と判定する</a:t>
            </a:r>
            <a:endParaRPr kumimoji="0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7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/>
                <a:ea typeface="BIZ UDPGothic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BIZ UDPGothic"/>
              <a:ea typeface="BIZ UDPGothi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08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lang="en-US" altLang="ja-JP" dirty="0" err="1"/>
              <a:t>いつもとのずれで気づく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4" name="mechanism_ai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3436" y="785782"/>
            <a:ext cx="9335102" cy="5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2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いつもとのずれで気づく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しきい値を越える前に、その株のいつもの変化からのずれで気づく</a:t>
            </a:r>
            <a:endParaRPr lang="en-US" sz="2600" dirty="0"/>
          </a:p>
        </p:txBody>
      </p:sp>
      <p:pic>
        <p:nvPicPr>
          <p:cNvPr id="4" name="Image 0" descr="葉温と気温の差、土の水分、AIの異常度の模式図。いつもの範囲から外れると異常度が上がり、しきい値の30%より前に気づ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4" y="1552074"/>
            <a:ext cx="8321526" cy="45744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783080"/>
            <a:ext cx="3063240" cy="4343400"/>
          </a:xfrm>
          <a:prstGeom prst="roundRect">
            <a:avLst>
              <a:gd name="adj" fmla="val 3582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823960" y="1920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見ているもの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823960" y="233172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・葉温と気温の差</a:t>
            </a:r>
            <a:endParaRPr kumimoji="0" lang="ja-JP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・葉温の上がり方</a:t>
            </a:r>
            <a:endParaRPr kumimoji="0" lang="ja-JP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・土の水分の減り方</a:t>
            </a:r>
            <a:endParaRPr kumimoji="0" lang="ja-JP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を、その株の「いつも」と比べる</a:t>
            </a:r>
            <a:endParaRPr kumimoji="0" lang="ja-JP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823960" y="3977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従来との違い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823960" y="438912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しきい値方式は、土の水分が30%を切ってから気づく。Plant Doctor は、変化のしかたがいつもと違った時点で気づく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/>
                <a:ea typeface="BIZ UDPGothic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BIZ UDPGothic"/>
              <a:ea typeface="BIZ UDPGothi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887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学習インターロック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健康で落ち着いているときだけ学ぶので、異常を「いつも」として覚えない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10972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測定値</a:t>
            </a:r>
            <a:endParaRPr kumimoji="0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34640" y="2212848"/>
            <a:ext cx="457200" cy="329184"/>
          </a:xfrm>
          <a:prstGeom prst="rightArrow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783080"/>
            <a:ext cx="45720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8470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学習してよいか（すべて満たすとき）</a:t>
            </a:r>
            <a:endParaRPr kumimoji="0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2286000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kumimoji="0" lang="ja-JP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114800" y="2258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診断が「健康」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kumimoji="0" lang="ja-JP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114800" y="2715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すべてのセンサーが正常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0" y="3200400"/>
            <a:ext cx="310896" cy="31089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0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kumimoji="0" lang="ja-JP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114800" y="3172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1F2933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ストレススコアが30未満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0" y="3657600"/>
            <a:ext cx="310896" cy="310896"/>
          </a:xfrm>
          <a:prstGeom prst="ellipse">
            <a:avLst/>
          </a:prstGeom>
          <a:solidFill>
            <a:srgbClr val="C8601A"/>
          </a:solidFill>
          <a:ln w="12700">
            <a:solidFill>
              <a:srgbClr val="C860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3657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</a:t>
            </a:r>
            <a:endParaRPr kumimoji="0" lang="ja-JP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114800" y="36301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AIがいつもと違うと見ていない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3611880" y="4114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いつもと違う間は1分に1回だけ学び、30分続いたら新しいいつもとして学び直す（照明の切り替えなど）</a:t>
            </a:r>
            <a:endParaRPr kumimoji="0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03920" y="1783080"/>
            <a:ext cx="3154680" cy="1234440"/>
          </a:xfrm>
          <a:prstGeom prst="roundRect">
            <a:avLst>
              <a:gd name="adj" fmla="val 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17830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満たす → 学習する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（いつもを更新）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03920" y="3291840"/>
            <a:ext cx="3154680" cy="1234440"/>
          </a:xfrm>
          <a:prstGeom prst="roundRect">
            <a:avLst>
              <a:gd name="adj" fmla="val 8889"/>
            </a:avLst>
          </a:prstGeom>
          <a:solidFill>
            <a:srgbClr val="F3F4F6"/>
          </a:solidFill>
          <a:ln w="25400">
            <a:solidFill>
              <a:srgbClr val="C8601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0" y="3291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満たさない → 学ばない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C8601A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（ずれを見るだけ）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046720" y="2240280"/>
            <a:ext cx="411480" cy="310896"/>
          </a:xfrm>
          <a:prstGeom prst="rightArrow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3749040"/>
            <a:ext cx="411480" cy="310896"/>
          </a:xfrm>
          <a:prstGeom prst="rightArrow">
            <a:avLst/>
          </a:prstGeom>
          <a:solidFill>
            <a:srgbClr val="C9CED6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8463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919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学習の発散を見張る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22960" y="53218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誤差が上限（1.0）のまま10回続いたら、モデルと異常度の基準を初期化して学び直す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126480" y="48463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0" y="491947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AIが応答しないとき</a:t>
            </a:r>
            <a:endParaRPr kumimoji="0" lang="ja-JP" altLang="en-US" sz="17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6400800" y="53218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AIだけを止め、見張りと給水は続ける</a:t>
            </a:r>
            <a:endParaRPr kumimoji="0" lang="ja-JP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F2933"/>
              </a:solidFill>
              <a:effectLst/>
              <a:uLnTx/>
              <a:uFillTx/>
              <a:latin typeface="BIZ UDPGothic"/>
              <a:ea typeface="BIZ UDPGothic" panose="020B0400000000000000" pitchFamily="50" charset="-128"/>
              <a:cs typeface="+mn-cs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BIZ UDPGothic"/>
                <a:ea typeface="BIZ UDPGothic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BIZ UDPGothic"/>
              <a:ea typeface="BIZ UDPGothic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681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原因の候補と対処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いつもと違うと気づいたら原因の候補を示し、乾燥なら給水する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4343400"/>
          </a:xfrm>
          <a:prstGeom prst="roundRect">
            <a:avLst>
              <a:gd name="adj" fmla="val 4110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pic>
        <p:nvPicPr>
          <p:cNvPr id="5" name="Image 0" descr="いつもと違うの模式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2395728" cy="13689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13232" y="3319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5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いつもと違う</a:t>
            </a:r>
            <a:endParaRPr lang="ja-JP" sz="185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730752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判定：AIの異常度50以上が約1分続いた（ルール上は健康）</a:t>
            </a:r>
            <a:endParaRPr lang="ja-JP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4681728"/>
            <a:ext cx="2395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C860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754880"/>
            <a:ext cx="22128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動き：WARNING を表示し、学習を1分に1回へ絞る（30未満が2分続けば解除）</a:t>
            </a:r>
            <a:endParaRPr lang="ja-JP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783080"/>
            <a:ext cx="2670048" cy="4343400"/>
          </a:xfrm>
          <a:prstGeom prst="roundRect">
            <a:avLst>
              <a:gd name="adj" fmla="val 411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pic>
        <p:nvPicPr>
          <p:cNvPr id="11" name="Image 1" descr="乾燥ストレスの模式図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864" y="1874520"/>
            <a:ext cx="2395728" cy="13689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1296" y="3319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50" b="1" dirty="0">
                <a:solidFill>
                  <a:srgbClr val="C6282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乾燥ストレス</a:t>
            </a:r>
            <a:endParaRPr lang="ja-JP" sz="1850" dirty="0"/>
          </a:p>
        </p:txBody>
      </p:sp>
      <p:sp>
        <p:nvSpPr>
          <p:cNvPr id="13" name="Text 9"/>
          <p:cNvSpPr txBox="1"/>
          <p:nvPr/>
        </p:nvSpPr>
        <p:spPr>
          <a:xfrm>
            <a:off x="3511296" y="3730752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判定：土壌水分が30%未満（タンク水あり・センサー正常）</a:t>
            </a:r>
            <a:endParaRPr lang="ja-JP" sz="1250" dirty="0"/>
          </a:p>
        </p:txBody>
      </p:sp>
      <p:sp>
        <p:nvSpPr>
          <p:cNvPr id="14" name="Shape 10"/>
          <p:cNvSpPr/>
          <p:nvPr/>
        </p:nvSpPr>
        <p:spPr>
          <a:xfrm>
            <a:off x="3483864" y="4681728"/>
            <a:ext cx="2395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75304" y="4754880"/>
            <a:ext cx="22128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動き：自動で給水（最大10秒・約20mL、30分間隔・1日6回まで）</a:t>
            </a:r>
            <a:endParaRPr lang="ja-JP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783080"/>
            <a:ext cx="2670048" cy="4343400"/>
          </a:xfrm>
          <a:prstGeom prst="roundRect">
            <a:avLst>
              <a:gd name="adj" fmla="val 411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pic>
        <p:nvPicPr>
          <p:cNvPr id="17" name="Image 2" descr="熱ストレスの模式図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874520"/>
            <a:ext cx="2395728" cy="136898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3319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50" b="1" dirty="0">
                <a:solidFill>
                  <a:srgbClr val="C6282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熱ストレス</a:t>
            </a:r>
            <a:endParaRPr lang="ja-JP" sz="185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730752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判定：葉温−気温が+2.0℃以上、かつ葉温が1時間に0.5℃以上上昇</a:t>
            </a:r>
            <a:endParaRPr lang="ja-JP" sz="1250" dirty="0"/>
          </a:p>
        </p:txBody>
      </p:sp>
      <p:sp>
        <p:nvSpPr>
          <p:cNvPr id="20" name="Shape 15"/>
          <p:cNvSpPr/>
          <p:nvPr/>
        </p:nvSpPr>
        <p:spPr>
          <a:xfrm>
            <a:off x="6281928" y="4681728"/>
            <a:ext cx="2395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6373368" y="4754880"/>
            <a:ext cx="22128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動き：暑さ対策（風通し・日よけ）を促す。学習を止め、異常度85を通知</a:t>
            </a:r>
            <a:endParaRPr lang="ja-JP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783080"/>
            <a:ext cx="2670048" cy="4343400"/>
          </a:xfrm>
          <a:prstGeom prst="roundRect">
            <a:avLst>
              <a:gd name="adj" fmla="val 4110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pic>
        <p:nvPicPr>
          <p:cNvPr id="23" name="Image 3" descr="給水失敗の模式図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1874520"/>
            <a:ext cx="2395728" cy="136898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07424" y="33192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850" b="1" dirty="0">
                <a:solidFill>
                  <a:srgbClr val="C6282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給水失敗</a:t>
            </a:r>
            <a:endParaRPr lang="ja-JP" sz="1850" dirty="0"/>
          </a:p>
        </p:txBody>
      </p:sp>
      <p:sp>
        <p:nvSpPr>
          <p:cNvPr id="25" name="Text 19"/>
          <p:cNvSpPr txBox="1"/>
          <p:nvPr/>
        </p:nvSpPr>
        <p:spPr>
          <a:xfrm>
            <a:off x="9107424" y="3730752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ja-JP" altLang="en-US" sz="12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判定：給水後3分で土壌水分が5ポイント以上増えない</a:t>
            </a:r>
            <a:endParaRPr lang="ja-JP" sz="1250" dirty="0"/>
          </a:p>
        </p:txBody>
      </p:sp>
      <p:sp>
        <p:nvSpPr>
          <p:cNvPr id="26" name="Shape 20"/>
          <p:cNvSpPr/>
          <p:nvPr/>
        </p:nvSpPr>
        <p:spPr>
          <a:xfrm>
            <a:off x="9079992" y="4681728"/>
            <a:ext cx="23957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171432" y="4754880"/>
            <a:ext cx="221284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動き：ポンプを止め、水切れ・ホース外れの確認を促す（30分後に解除）</a:t>
            </a:r>
            <a:endParaRPr lang="ja-JP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chemeClr val="accent1"/>
                </a:solidFill>
              </a:rPr>
              <a:t>デモ</a:t>
            </a:r>
            <a:r>
              <a:rPr lang="ja-JP" altLang="en-US" sz="1600" b="1" dirty="0" smtClean="0">
                <a:solidFill>
                  <a:schemeClr val="accent1"/>
                </a:solidFill>
              </a:rPr>
              <a:t>動画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いつもとのずれに気づき、給水して、戻ったかまで確かめる</a:t>
            </a:r>
            <a:endParaRPr lang="en-US" sz="2600" dirty="0"/>
          </a:p>
        </p:txBody>
      </p:sp>
      <p:pic>
        <p:nvPicPr>
          <p:cNvPr id="6" name="Image 0" descr="実機ダッシュボードの記録。ポンプ駆動後に葉温と気温の差とストレスが下がっ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5166360" cy="18836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545775" y="36576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45775" y="365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実機ログ</a:t>
            </a:r>
            <a:endParaRPr lang="ja-JP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370332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実機ダッシュボードの記録（9/24〜9/25）。赤枠：ポンプ駆動のあと、葉温と気温の差（ΔT）とストレスが下がった</a:t>
            </a:r>
            <a:endParaRPr lang="ja-JP" sz="1200" dirty="0"/>
          </a:p>
        </p:txBody>
      </p:sp>
      <p:sp>
        <p:nvSpPr>
          <p:cNvPr id="10" name="Shape 7"/>
          <p:cNvSpPr/>
          <p:nvPr/>
        </p:nvSpPr>
        <p:spPr>
          <a:xfrm>
            <a:off x="6492240" y="4343400"/>
            <a:ext cx="5166360" cy="1783080"/>
          </a:xfrm>
          <a:prstGeom prst="roundRect">
            <a:avLst>
              <a:gd name="adj" fmla="val 6154"/>
            </a:avLst>
          </a:prstGeom>
          <a:solidFill>
            <a:srgbClr val="EEF5EF"/>
          </a:solidFill>
          <a:ln w="12700">
            <a:solidFill>
              <a:srgbClr val="EEF5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20840" y="44622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見てほしいところ</a:t>
            </a:r>
            <a:endParaRPr lang="ja-JP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4882896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・ずれが続くと異常度が上がり、WARNING が出る</a:t>
            </a:r>
            <a:endParaRPr lang="ja-JP" sz="1350" dirty="0"/>
          </a:p>
          <a:p>
            <a:pPr marL="0" indent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・異常の間は学習を絞り、乾燥ストレスなら自動で給水する</a:t>
            </a:r>
            <a:endParaRPr lang="ja-JP" sz="1350" dirty="0"/>
          </a:p>
          <a:p>
            <a:pPr marL="0" indent="0">
              <a:lnSpc>
                <a:spcPct val="135000"/>
              </a:lnSpc>
              <a:buNone/>
            </a:pPr>
            <a:r>
              <a:rPr lang="ja-JP" altLang="en-US" sz="135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・給水後に土の水分と葉温の差（ΔT）が戻ったか確かめる</a:t>
            </a:r>
            <a:endParaRPr lang="ja-JP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3" name="vCdIFFWTy9g"/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36622" y="2101676"/>
            <a:ext cx="5948841" cy="33462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600" dirty="0">
                <a:solidFill>
                  <a:srgbClr val="BFD8C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ja-JP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植物の「いつも」を、</a:t>
            </a:r>
            <a:endParaRPr lang="ja-JP" sz="4000" dirty="0"/>
          </a:p>
          <a:p>
            <a:pPr marL="0" indent="0">
              <a:lnSpc>
                <a:spcPct val="110000"/>
              </a:lnSpc>
              <a:buNone/>
            </a:pPr>
            <a:r>
              <a:rPr lang="ja-JP" alt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その場で覚えるお医者さん</a:t>
            </a:r>
            <a:endParaRPr lang="ja-JP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154680"/>
            <a:ext cx="3547872" cy="1600200"/>
          </a:xfrm>
          <a:prstGeom prst="roundRect">
            <a:avLst>
              <a:gd name="adj" fmla="val 5714"/>
            </a:avLst>
          </a:prstGeom>
          <a:solidFill>
            <a:srgbClr val="214E31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3310128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950" b="1" dirty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変化のしかたまで学ぶ</a:t>
            </a:r>
            <a:endParaRPr lang="ja-JP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767328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4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葉温の上がり方や土の乾き方を、株と置き場所ごとに Solist-AI™ でチップ上に覚える</a:t>
            </a:r>
            <a:endParaRPr lang="ja-JP" sz="1450" dirty="0"/>
          </a:p>
        </p:txBody>
      </p:sp>
      <p:sp>
        <p:nvSpPr>
          <p:cNvPr id="7" name="Shape 5"/>
          <p:cNvSpPr/>
          <p:nvPr/>
        </p:nvSpPr>
        <p:spPr>
          <a:xfrm>
            <a:off x="4297680" y="3154680"/>
            <a:ext cx="3547872" cy="1600200"/>
          </a:xfrm>
          <a:prstGeom prst="roundRect">
            <a:avLst>
              <a:gd name="adj" fmla="val 5714"/>
            </a:avLst>
          </a:prstGeom>
          <a:solidFill>
            <a:srgbClr val="214E31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3310128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950" b="1" dirty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いつもからのずれで気づく</a:t>
            </a:r>
            <a:endParaRPr lang="ja-JP" sz="1950" dirty="0"/>
          </a:p>
        </p:txBody>
      </p:sp>
      <p:sp>
        <p:nvSpPr>
          <p:cNvPr id="9" name="Text 7"/>
          <p:cNvSpPr txBox="1"/>
          <p:nvPr/>
        </p:nvSpPr>
        <p:spPr>
          <a:xfrm>
            <a:off x="4498848" y="3767328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4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固定のしきい値を越える前に、いつもとのずれから「いつもと違う」を知らせる</a:t>
            </a:r>
            <a:endParaRPr lang="ja-JP" sz="1450" dirty="0"/>
          </a:p>
        </p:txBody>
      </p:sp>
      <p:sp>
        <p:nvSpPr>
          <p:cNvPr id="10" name="Shape 8"/>
          <p:cNvSpPr/>
          <p:nvPr/>
        </p:nvSpPr>
        <p:spPr>
          <a:xfrm>
            <a:off x="8046720" y="3154680"/>
            <a:ext cx="3547872" cy="1600200"/>
          </a:xfrm>
          <a:prstGeom prst="roundRect">
            <a:avLst>
              <a:gd name="adj" fmla="val 5714"/>
            </a:avLst>
          </a:prstGeom>
          <a:solidFill>
            <a:srgbClr val="214E31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3310128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950" b="1" dirty="0">
                <a:solidFill>
                  <a:srgbClr val="CFE8D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異常は覚えない</a:t>
            </a:r>
            <a:endParaRPr lang="ja-JP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3767328"/>
            <a:ext cx="3145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ja-JP" altLang="en-US" sz="14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7つの関門で健康なモデルを守り、給水後に水分と葉温が戻ったかまで確かめる</a:t>
            </a:r>
            <a:endParaRPr lang="ja-JP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749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ja-JP" altLang="en-US" sz="17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家庭の鉢植えから、学校・オフィスの緑化、温室まで。ソースコードと解説を GitHub で公開しています。</a:t>
            </a:r>
            <a:endParaRPr lang="ja-JP" sz="1700" dirty="0"/>
          </a:p>
          <a:p>
            <a:pPr marL="0" indent="0">
              <a:lnSpc>
                <a:spcPct val="135000"/>
              </a:lnSpc>
              <a:buNone/>
            </a:pPr>
            <a:r>
              <a:rPr lang="ja-JP" altLang="en-US" sz="1700" b="1" dirty="0">
                <a:solidFill>
                  <a:srgbClr val="CFE8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github.com/horned128/plant-doctor</a:t>
            </a:r>
            <a:endParaRPr lang="ja-JP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000" dirty="0">
                <a:solidFill>
                  <a:srgbClr val="9DBFA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Solist-AI™ は、ローム株式会社の商標または登録商標です。</a:t>
            </a:r>
            <a:endParaRPr lang="ja-JP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Solist-AI™：健康なときの学び方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健康なときの8つの値をチップ上で学び、その株の「いつも」をつくる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3736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土壌水分</a:t>
            </a:r>
            <a:endParaRPr lang="ja-JP" sz="1350" dirty="0"/>
          </a:p>
        </p:txBody>
      </p:sp>
      <p:sp>
        <p:nvSpPr>
          <p:cNvPr id="6" name="Shape 4"/>
          <p:cNvSpPr/>
          <p:nvPr/>
        </p:nvSpPr>
        <p:spPr>
          <a:xfrm>
            <a:off x="3063240" y="1737360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172968" y="1737360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</a:t>
            </a:r>
            <a:endParaRPr lang="ja-JP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17627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気温</a:t>
            </a:r>
            <a:endParaRPr lang="ja-JP" sz="1350" dirty="0"/>
          </a:p>
        </p:txBody>
      </p:sp>
      <p:sp>
        <p:nvSpPr>
          <p:cNvPr id="10" name="Shape 8"/>
          <p:cNvSpPr/>
          <p:nvPr/>
        </p:nvSpPr>
        <p:spPr>
          <a:xfrm>
            <a:off x="3063240" y="2176272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FFF4EC"/>
          </a:solidFill>
          <a:ln w="19050">
            <a:solidFill>
              <a:srgbClr val="C860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72968" y="2176272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葉温−気温</a:t>
            </a:r>
            <a:endParaRPr lang="ja-JP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61518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湿度</a:t>
            </a:r>
            <a:endParaRPr lang="ja-JP" sz="1350" dirty="0"/>
          </a:p>
        </p:txBody>
      </p:sp>
      <p:sp>
        <p:nvSpPr>
          <p:cNvPr id="14" name="Shape 12"/>
          <p:cNvSpPr/>
          <p:nvPr/>
        </p:nvSpPr>
        <p:spPr>
          <a:xfrm>
            <a:off x="3063240" y="2615184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EEF5EF"/>
          </a:solidFill>
          <a:ln w="9525">
            <a:solidFill>
              <a:srgbClr val="EEF5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72968" y="2615184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照度（生値）</a:t>
            </a:r>
            <a:endParaRPr lang="ja-JP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054096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FFF4EC"/>
          </a:solidFill>
          <a:ln w="19050">
            <a:solidFill>
              <a:srgbClr val="C860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05409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葉温の変化速度</a:t>
            </a:r>
            <a:endParaRPr lang="ja-JP" sz="1350" dirty="0"/>
          </a:p>
        </p:txBody>
      </p:sp>
      <p:sp>
        <p:nvSpPr>
          <p:cNvPr id="18" name="Shape 16"/>
          <p:cNvSpPr/>
          <p:nvPr/>
        </p:nvSpPr>
        <p:spPr>
          <a:xfrm>
            <a:off x="3063240" y="3054096"/>
            <a:ext cx="2377440" cy="374904"/>
          </a:xfrm>
          <a:prstGeom prst="roundRect">
            <a:avLst>
              <a:gd name="adj" fmla="val 19512"/>
            </a:avLst>
          </a:prstGeom>
          <a:solidFill>
            <a:srgbClr val="FFF4EC"/>
          </a:solidFill>
          <a:ln w="19050">
            <a:solidFill>
              <a:srgbClr val="C860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72968" y="3054096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土壌水分の変化速度</a:t>
            </a:r>
            <a:endParaRPr lang="ja-JP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11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50" b="1" dirty="0">
                <a:solidFill>
                  <a:srgbClr val="C8601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橙枠：蒸散の効きと変化の速さ（その株と置き場所の特徴が出る入力）</a:t>
            </a:r>
            <a:endParaRPr lang="ja-JP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ja-JP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1秒ごとに推論</a:t>
            </a:r>
            <a:endParaRPr lang="ja-JP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38404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自己符号化器（8-64-8）で復元し、誤差を「いつもとのずれ」とする</a:t>
            </a:r>
            <a:endParaRPr lang="ja-JP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ja-JP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44165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健康なときだけ学ぶ</a:t>
            </a:r>
            <a:endParaRPr lang="ja-JP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44165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7つの関門を通ったサンプルだけを、その場で逐次学習（オンデバイス学習）</a:t>
            </a:r>
            <a:endParaRPr lang="ja-JP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ja-JP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115568" y="499262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段階を踏む</a:t>
            </a:r>
            <a:endParaRPr lang="ja-JP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834640" y="499262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立ち上げ（〜100回）→ 安定化（〜500回）→ 見張り（500回〜、約25分で判定開始）</a:t>
            </a:r>
            <a:endParaRPr lang="ja-JP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05272"/>
            <a:ext cx="457200" cy="4572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5605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ja-JP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556869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400" b="1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ずれの基準も覚える</a:t>
            </a:r>
            <a:endParaRPr lang="ja-JP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556869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37415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健康時の誤差の平均とばらつきを覚え、ずれを異常度0〜100に換算</a:t>
            </a:r>
            <a:endParaRPr lang="ja-JP" sz="12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5897880" y="1828800"/>
          <a:ext cx="57607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 35"/>
          <p:cNvSpPr txBox="1"/>
          <p:nvPr/>
        </p:nvSpPr>
        <p:spPr>
          <a:xfrm>
            <a:off x="5989320" y="54864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ja-JP" altLang="en-US" sz="1300" dirty="0">
                <a:solidFill>
                  <a:srgbClr val="1F2933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誤差は 0.0215〜0.0259 で安定。この誤差に異常度の式を当てはめると、最大 20（目安50に届いた点は0件）</a:t>
            </a:r>
            <a:endParaRPr lang="ja-JP" sz="1300" dirty="0"/>
          </a:p>
        </p:txBody>
      </p:sp>
      <p:sp>
        <p:nvSpPr>
          <p:cNvPr id="40" name="Shape 37"/>
          <p:cNvSpPr/>
          <p:nvPr/>
        </p:nvSpPr>
        <p:spPr>
          <a:xfrm>
            <a:off x="10545775" y="36576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545775" y="365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実機ログ</a:t>
            </a:r>
            <a:endParaRPr lang="ja-JP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付録1　Solist-AI への入力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8つの値を0〜1にそろえてから、8-64-8 の自己符号化器に入れる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345643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入力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正規化の範囲（この範囲を0〜1に変換）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土壌水分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0〜1000 ‰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葉温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10〜40 ℃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気温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10〜40 ℃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葉温−気温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−4.0〜+2.0 ℃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湿度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20〜100 %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照度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0〜6000（センサーの生値。ファームウェアの換算で約0〜350 lx）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葉温の変化速度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−3.0〜+3.0 ℃/時（変化に敏感になるよう狭めた）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土壌水分の変化速度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−60〜+60 ‰/時（同上）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出典：ai/PlantAi.c、config/PlantDoctorConfig.h。中間層64、活性化関数はシグモイド、損失は二乗誤差（MSE）、1秒ごとに推論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付録2　異常度の計算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健康なときの誤差の水準とばらつきを基準に、ずれを0〜100にする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34564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内容（設定値）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基準を作るサンプル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7つの関門を通った健康なサンプル（学習100回以降、1秒ごと）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給水後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約1時間半は判定も学習も休む（変化速度は直近60分で計算するため）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基準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誤差の平均とばらつき（平均絶対偏差）を移動平均で更新（約17分の時定数）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判定開始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変化速度の履歴が15分たまり、健康なサンプルが600件（約10分）そろってから。起動から約25分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異常度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（今の誤差 − 平均）÷（ばらつき × 8）× 100。ばらつきの下限は15ppm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判定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50以上が約60秒続いたら「いつもと違う」、30未満が約120秒続いたら解除（1回外れても数え直さない）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学習との関係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いつもと違う間は60秒に1回だけ学ぶ。10800秒（3時間）続いたら、新しいいつもとして毎回学ぶ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表示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ルール上は健康のとき WARNING。異常度は0〜100で送る（ルール診断が異常のときは85）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出典：ai/AiAnomaly.c、ai/PlantAi.c、config/PlantDoctorConfig.h（設定値は暫定。実機で調整する）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付録3　ストレススコアの計算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原因の候補を示すため、4つの部分スコアのうち最大のものを主軸にまとめる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20726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部分スコア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0になる状態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100に近づく状態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重み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土壌水分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600‰ 以上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乾くほど上がる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35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熱（葉温−気温）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+0.80℃ 以下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+0.80℃から +1.67℃ 上がると100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35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日照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24時間の積算が 生値100×24時間 以上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暗いほど上がる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湿度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60% 以上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乾いた空気ほど上がる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15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出典：ai/PlantStress.c、config/PlantDoctorConfig.h（重みは PLANT_DOCTOR_STRESS_WEIGHT_*）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付録4　診断の判定順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上から順に判定し、最初に当てはまったものを診断にする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診断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条件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センサー異常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いずれかのセンサーの値が妥当でない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給水失敗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給水後3分で土壌水分が5ポイント以上増えない（30分で解除）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給水中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ポンプが動いている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乾燥ストレス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土壌水分が30%未満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土壌劣化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給水後3分の土壌水分の増加が8ポイント未満の状態が3回続く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熱ストレス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葉温−気温が+2.0℃以上、かつ葉温が1時間に0.5℃以上上昇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吸水不良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土壌水分40%以上なのに葉温−気温が+1.5℃以上、給水しても葉が冷えない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日照不足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24時間の積算照度が 生値100×24時間 未満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いつもと違う（WARNING）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上のどれにも当てはまらないが、AIの異常度50以上が約1分続いた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健康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上のどれにも当てはまらない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出典：ai/PlantDiagnosis.c、ai/PlantAi.c、config/PlantDoctorConfig.h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付録5　給水の安全設計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やりすぎとポンプの動かしっぱなしを条件で防ぎ、効いたかを確かめる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給水する条件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乾燥ストレスかつ土壌水分30%未満、タンクに水がある、土壌センサーが正常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回数の制限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前回から30分以上あける。1日6回まで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1回の給水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ポンプ（約2mL/秒）は最大10秒（約20mL）で自動停止。停止後3秒は再起動しない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効果の確認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3分後の土壌水分の増加（5ポイント以上）と、5分後の葉温の低下（0.3℃以上）を見る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異常時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エラー時はポンプを緊急停止。給水失敗は30分で解除して再試行。手動スイッチでも給水・停止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出典：app/WateringPolicy.c、actuator/PumpControl.*、config/PlantDoctorConfig.h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付録6　システム構成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センサー・給水・Solist-AI 基板・表示・ゲートウェイを一体にした</a:t>
            </a:r>
            <a:endParaRPr lang="en-US" sz="2600" dirty="0"/>
          </a:p>
        </p:txBody>
      </p:sp>
      <p:pic>
        <p:nvPicPr>
          <p:cNvPr id="4" name="Image 0" descr="Plant Doctor のシステム構成図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91640"/>
            <a:ext cx="7589520" cy="4434840"/>
          </a:xfrm>
          <a:prstGeom prst="rect">
            <a:avLst/>
          </a:prstGeom>
        </p:spPr>
      </p:pic>
      <p:pic>
        <p:nvPicPr>
          <p:cNvPr id="5" name="Image 1" descr="葉温センサーと土壌水分センサー・ポンプの写真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1691640"/>
            <a:ext cx="2423160" cy="1810512"/>
          </a:xfrm>
          <a:prstGeom prst="rect">
            <a:avLst/>
          </a:prstGeom>
        </p:spPr>
      </p:pic>
      <p:pic>
        <p:nvPicPr>
          <p:cNvPr id="6" name="Image 2" descr="本体の液晶表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0" y="3657600"/>
            <a:ext cx="2423160" cy="181965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1722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出典：ProtoPedia 作品ページの図と写真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付録7　開発とドキュメント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手元でそのまま再現・検証できるよう、開発環境と解説を公開している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4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ファームウェア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DT-EBML63Q2557 向けのベアメタル C（VS Code＋CMake＋ARM GCC、Windows／macOS 対応）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テスト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診断・ストレス・給水判断・異常度などを PC 上で検証するホストテスト（tests/host、18件）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表示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ATOMS3 Lite（ESP32-S3）経由の Web ダッシュボード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解説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教科書形式のドキュメント5章（ストレス評価、自己符号化器、オンデバイス学習など）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実機ログ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2026/9/21〜9/26 に 973 件を記録（10分間隔）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公開先：github.com/horned128/plant-doctor</a:t>
            </a:r>
            <a:endParaRPr lang="ja-JP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付録8　想定値の作り方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仮定したのはセンサーの値だけ。判定はファームウェアの処理で計算した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2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項目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内容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実機ログから取った値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気温・湿度・照度・葉温−気温の、時刻ごとの平均とばらつき（9/24 13:00〜9/25 22:20）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仮定した値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土壌水分は当日11時に52%、いつもの乾き方は点灯中0.6ポイント/時。11時から6ポイント/時に速まり、乾くほど葉温が上がる。給水で約22ポイント戻る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ファームウェアのソースで計算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異常度・WARNING・学習の絞り方（AiAnomaly.c）、ストレススコア（PlantStress.c）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同じ条件を PC で再現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学習の可否（PlantAi.c の条件）、変化速度（直近60分）、給水の判断と効果の確認。診断は給水中・乾燥・健康のみ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Solist-AI の代わり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同じ形の自己符号化器（8-64-8、逐次学習）を PC で動かした。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誤差は、健康時の平均0.0235・ばらつき0.0007（実機の値）に合わせて換算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学習の期間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3日分の健康な状態を学ばせてから当日を計算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比較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乾きが速まらない場合、当日の異常度は最大30で WARNING なし（WARNING 時の誤差は変化速度2つが88%）</a:t>
                      </a:r>
                      <a:endParaRPr lang="en-US" sz="14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100" dirty="0">
                <a:solidFill>
                  <a:srgbClr val="5B667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実機ログではない。WARNING の時刻は、仮定した乾きの速さで変わる</a:t>
            </a:r>
            <a:endParaRPr lang="ja-JP" sz="1100" dirty="0"/>
          </a:p>
        </p:txBody>
      </p:sp>
      <p:sp>
        <p:nvSpPr>
          <p:cNvPr id="6" name="Shape 3"/>
          <p:cNvSpPr/>
          <p:nvPr/>
        </p:nvSpPr>
        <p:spPr>
          <a:xfrm>
            <a:off x="10545775" y="36576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C8601A"/>
          </a:solidFill>
          <a:ln w="12700">
            <a:solidFill>
              <a:srgbClr val="C860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545775" y="365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想定値</a:t>
            </a:r>
            <a:endParaRPr lang="ja-JP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 Doctor">
  <a:themeElements>
    <a:clrScheme name="Plant Doctor">
      <a:dk1>
        <a:srgbClr val="1F2933"/>
      </a:dk1>
      <a:lt1>
        <a:srgbClr val="FFFFFF"/>
      </a:lt1>
      <a:dk2>
        <a:srgbClr val="163A24"/>
      </a:dk2>
      <a:lt2>
        <a:srgbClr val="EEF5EF"/>
      </a:lt2>
      <a:accent1>
        <a:srgbClr val="2E7D32"/>
      </a:accent1>
      <a:accent2>
        <a:srgbClr val="C8601A"/>
      </a:accent2>
      <a:accent3>
        <a:srgbClr val="2F6DB5"/>
      </a:accent3>
      <a:accent4>
        <a:srgbClr val="C62828"/>
      </a:accent4>
      <a:accent5>
        <a:srgbClr val="334155"/>
      </a:accent5>
      <a:accent6>
        <a:srgbClr val="5B6670"/>
      </a:accent6>
      <a:hlink>
        <a:srgbClr val="2F6DB5"/>
      </a:hlink>
      <a:folHlink>
        <a:srgbClr val="5B6670"/>
      </a:folHlink>
    </a:clrScheme>
    <a:fontScheme name="Plant Doctor">
      <a:maj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Gothic"/>
        <a:ea typeface="BIZ UDPGothic"/>
        <a:cs typeface=""/>
        <a:font script="Jpan" typeface="BIZ UD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2141</Words>
  <Application>Microsoft Office PowerPoint</Application>
  <PresentationFormat>ワイド画面</PresentationFormat>
  <Paragraphs>372</Paragraphs>
  <Slides>21</Slides>
  <Notes>19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BIZ UDPGothic</vt:lpstr>
      <vt:lpstr>游ゴシック</vt:lpstr>
      <vt:lpstr>Arial</vt:lpstr>
      <vt:lpstr>Segoe UI</vt:lpstr>
      <vt:lpstr>Plant Doctor</vt:lpstr>
      <vt:lpstr>PowerPoint プレゼンテーション</vt:lpstr>
      <vt:lpstr>土の乾き具合と固定のしきい値だけでは、植物の状態は分からない</vt:lpstr>
      <vt:lpstr>測る・いつもと比べる・原因を示して水をやる・確かめる、を1台で回す</vt:lpstr>
      <vt:lpstr>PowerPoint プレゼンテーション</vt:lpstr>
      <vt:lpstr>健康な33時間、室内の快適な環境では葉温が気温より約0.7℃低かった</vt:lpstr>
      <vt:lpstr>変化の速さを含む8つの値で「いつも」を学び、ずれを異常度にする</vt:lpstr>
      <vt:lpstr>PowerPoint プレゼンテーション</vt:lpstr>
      <vt:lpstr>しきい値を越える前に、その株のいつもの変化からのずれで気づく</vt:lpstr>
      <vt:lpstr>健康で落ち着いているときだけ学ぶので、異常を「いつも」として覚えない</vt:lpstr>
      <vt:lpstr>いつもと違うと気づいたら原因の候補を示し、乾燥なら給水する</vt:lpstr>
      <vt:lpstr>いつもとのずれに気づき、給水して、戻ったかまで確かめる</vt:lpstr>
      <vt:lpstr>PowerPoint プレゼンテーション</vt:lpstr>
      <vt:lpstr>健康なときの8つの値をチップ上で学び、その株の「いつも」をつくる</vt:lpstr>
      <vt:lpstr>8つの値を0〜1にそろえてから、8-64-8 の自己符号化器に入れる</vt:lpstr>
      <vt:lpstr>健康なときの誤差の水準とばらつきを基準に、ずれを0〜100にする</vt:lpstr>
      <vt:lpstr>原因の候補を示すため、4つの部分スコアのうち最大のものを主軸にまとめる</vt:lpstr>
      <vt:lpstr>上から順に判定し、最初に当てはまったものを診断にする</vt:lpstr>
      <vt:lpstr>やりすぎとポンプの動かしっぱなしを条件で防ぎ、効いたかを確かめる</vt:lpstr>
      <vt:lpstr>センサー・給水・Solist-AI 基板・表示・ゲートウェイを一体にした</vt:lpstr>
      <vt:lpstr>手元でそのまま再現・検証できるよう、開発環境と解説を公開している</vt:lpstr>
      <vt:lpstr>仮定したのはセンサーの値だけ。判定はファームウェアの処理で計算した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Doctor — ROHM EDGE HACK CHALLENGE 2026 最終審査会</dc:title>
  <dc:subject>PptxGenJS Presentation</dc:subject>
  <dc:creator>Plant Doctor team</dc:creator>
  <cp:lastModifiedBy>Windows User</cp:lastModifiedBy>
  <cp:revision>5</cp:revision>
  <dcterms:created xsi:type="dcterms:W3CDTF">2026-10-24T00:53:04Z</dcterms:created>
  <dcterms:modified xsi:type="dcterms:W3CDTF">2026-10-24T02:11:09Z</dcterms:modified>
</cp:coreProperties>
</file>